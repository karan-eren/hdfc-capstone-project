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Platypi Medium" panose="020B0604020202020204" charset="0"/>
      <p:regular r:id="rId13"/>
    </p:embeddedFont>
    <p:embeddedFont>
      <p:font typeface="Source Serif 4"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147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2232-D21F-0DBD-5F33-65A5C1A9F7EC}"/>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0581F333-B4FB-D02B-084A-9067673AB396}"/>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E557792E-0D0A-70D8-97A1-ACAACB7DFA3D}"/>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1E4A378A-0EFA-D353-89BA-E59F9980C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BB847-D04A-1EC9-7C31-62F28C4CD38D}"/>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1725053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D072-FDD8-6FC8-0AE2-702C417C07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F34F26-9F5D-BF01-472F-F365E0063D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C584A-1CC7-530B-D1C7-6CC257E5C64E}"/>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7D09BBEE-D3F5-DB25-5237-7E913F2FA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16B0F4-0354-4B88-F177-D2A92CACF0F0}"/>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393035387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7139E-7269-CA9B-7B83-45A5DD5FBA3B}"/>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70604155-3D09-BB6C-284F-ECAC78989606}"/>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52A6A0-0B20-75E5-B8EE-E8E79D2FDB81}"/>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5573D3F4-CA5C-D10F-589E-F6BB04B65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BDC30B-6043-ECC0-2664-377DC2B8A56A}"/>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29067826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943FF-300F-9E20-2013-CE88F8AAF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F32AB0-C344-25E5-EB6B-17BCC2C8EB0C}"/>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02BFCA-D692-9F29-AE79-64613C2C1765}"/>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73C00A-0706-C740-7096-5D5A1CAC1AD5}"/>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6" name="Footer Placeholder 5">
            <a:extLst>
              <a:ext uri="{FF2B5EF4-FFF2-40B4-BE49-F238E27FC236}">
                <a16:creationId xmlns:a16="http://schemas.microsoft.com/office/drawing/2014/main" id="{373E3A18-5C18-91F7-202D-1C80BE3B24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8D6454-52A6-7BA5-FF0B-500051972D72}"/>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30128815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BE919-454F-BC43-0083-91110F713A77}"/>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835CC-C108-F04F-4E66-E7A04A64D010}"/>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E648721E-B5CC-0465-5E29-B107B51CEA27}"/>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DA5BEB-F7B9-E723-0236-6F081E5AB1B5}"/>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5EF8B516-DC7E-899E-DC3C-DE240C84E499}"/>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0C38CD-8983-1B47-EDCC-E202890E496B}"/>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8" name="Footer Placeholder 7">
            <a:extLst>
              <a:ext uri="{FF2B5EF4-FFF2-40B4-BE49-F238E27FC236}">
                <a16:creationId xmlns:a16="http://schemas.microsoft.com/office/drawing/2014/main" id="{F47E1053-BB3D-1A1E-2105-4CBFEAED9D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11BCF5-64C1-1598-B11A-2D9335B0E0EA}"/>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15310078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5B0C-7E2B-455E-E251-8EDB8A3D8F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CF8807-BEAD-C973-22DF-92001F2CA6E3}"/>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4" name="Footer Placeholder 3">
            <a:extLst>
              <a:ext uri="{FF2B5EF4-FFF2-40B4-BE49-F238E27FC236}">
                <a16:creationId xmlns:a16="http://schemas.microsoft.com/office/drawing/2014/main" id="{9580C3D7-B321-78B4-B350-B8E9BCF63E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9C1525-7B7B-8134-73D1-25CCC5791560}"/>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26613422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D7D8AE-E3B5-7A81-E716-3A97AED495B3}"/>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3" name="Footer Placeholder 2">
            <a:extLst>
              <a:ext uri="{FF2B5EF4-FFF2-40B4-BE49-F238E27FC236}">
                <a16:creationId xmlns:a16="http://schemas.microsoft.com/office/drawing/2014/main" id="{F4D2DFFB-9557-8230-C036-75736F01B1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19AB9E-00D6-3E9B-98C9-DE7F29E72864}"/>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2715038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7F50-AED7-FEBD-90E4-F52056CBF2F7}"/>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629E7BDF-54F6-D340-E0D2-454F5637403D}"/>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6C815C-AA79-161A-A83A-83ACFE196EB1}"/>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069E4AC3-B387-4CAA-4FFA-30371698ED45}"/>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6" name="Footer Placeholder 5">
            <a:extLst>
              <a:ext uri="{FF2B5EF4-FFF2-40B4-BE49-F238E27FC236}">
                <a16:creationId xmlns:a16="http://schemas.microsoft.com/office/drawing/2014/main" id="{6CA1FAF8-F3B0-B424-0E0B-63DB0F48D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C6C93-9DD9-43F8-CF3B-52AA2B6A6FAD}"/>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28326277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FE0E-EAEC-D2D7-D0A2-BAAD3492F81D}"/>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BADCD5C6-08DB-E704-4115-F7025137531B}"/>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2342D254-3988-BA01-4F3A-D1FE7139FF6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F52721AA-F3DD-1FF1-FF62-9AF427A09525}"/>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6" name="Footer Placeholder 5">
            <a:extLst>
              <a:ext uri="{FF2B5EF4-FFF2-40B4-BE49-F238E27FC236}">
                <a16:creationId xmlns:a16="http://schemas.microsoft.com/office/drawing/2014/main" id="{3D564583-9980-E95D-27E5-673FC5AAD1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D45B3-5542-B0BE-0916-85B2A00C8BF5}"/>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19379405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8B2C-749D-FF78-34C2-12D64E0D59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AFABC3-0610-73B9-189D-A95640A5A6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DB175-2BD2-936C-79B6-5AB04F158519}"/>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1A921516-895C-33EC-EA1F-390A5503A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F3AA2-90EF-6A53-3915-38E5DA4B6F09}"/>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13723055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451454-F66A-5E96-2C07-F48E66661FBD}"/>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3B8EF4-916A-0C1D-C3BF-CA464B61DC51}"/>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6222C-FCAF-5BC6-14CE-8C91E5BB0709}"/>
              </a:ext>
            </a:extLst>
          </p:cNvPr>
          <p:cNvSpPr>
            <a:spLocks noGrp="1"/>
          </p:cNvSpPr>
          <p:nvPr>
            <p:ph type="dt" sz="half" idx="10"/>
          </p:nvPr>
        </p:nvSpPr>
        <p:spPr/>
        <p:txBody>
          <a:body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CAFA52BC-B07A-F2F6-0978-A1035CB956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559AF-1223-EDBB-91B5-62B6F8DCF42A}"/>
              </a:ext>
            </a:extLst>
          </p:cNvPr>
          <p:cNvSpPr>
            <a:spLocks noGrp="1"/>
          </p:cNvSpPr>
          <p:nvPr>
            <p:ph type="sldNum" sz="quarter" idx="12"/>
          </p:nvPr>
        </p:nvSpPr>
        <p:spPr/>
        <p:txBody>
          <a:bodyPr/>
          <a:lstStyle/>
          <a:p>
            <a:fld id="{86176DA0-566A-493F-A5F4-D356C56A18F3}" type="slidenum">
              <a:rPr lang="en-US" smtClean="0"/>
              <a:t>‹#›</a:t>
            </a:fld>
            <a:endParaRPr lang="en-US"/>
          </a:p>
        </p:txBody>
      </p:sp>
    </p:spTree>
    <p:extLst>
      <p:ext uri="{BB962C8B-B14F-4D97-AF65-F5344CB8AC3E}">
        <p14:creationId xmlns:p14="http://schemas.microsoft.com/office/powerpoint/2010/main" val="17197854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714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54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479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8897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65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03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5798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60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682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2467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9746C4-2DCF-8388-8BC8-DF1BF6923447}"/>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93ECD0-AEDB-1A4B-EE8A-0E42F929016D}"/>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C1BBE5-CA30-F2C4-EFA7-0E170EAB0B3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0A503434-F6A6-4CA8-B330-04D4DD93B52B}" type="datetimeFigureOut">
              <a:rPr lang="en-US" smtClean="0"/>
              <a:t>12/4/2025</a:t>
            </a:fld>
            <a:endParaRPr lang="en-US"/>
          </a:p>
        </p:txBody>
      </p:sp>
      <p:sp>
        <p:nvSpPr>
          <p:cNvPr id="5" name="Footer Placeholder 4">
            <a:extLst>
              <a:ext uri="{FF2B5EF4-FFF2-40B4-BE49-F238E27FC236}">
                <a16:creationId xmlns:a16="http://schemas.microsoft.com/office/drawing/2014/main" id="{370560F9-FA44-F70A-5913-FF8BF12AC771}"/>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42F41A-895B-480F-803E-2B1249936A0E}"/>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86176DA0-566A-493F-A5F4-D356C56A18F3}" type="slidenum">
              <a:rPr lang="en-US" smtClean="0"/>
              <a:t>‹#›</a:t>
            </a:fld>
            <a:endParaRPr lang="en-US"/>
          </a:p>
        </p:txBody>
      </p:sp>
    </p:spTree>
    <p:extLst>
      <p:ext uri="{BB962C8B-B14F-4D97-AF65-F5344CB8AC3E}">
        <p14:creationId xmlns:p14="http://schemas.microsoft.com/office/powerpoint/2010/main" val="1731269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722721"/>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Digital KYC Conversion Optimisation – HDFC Bank</a:t>
            </a:r>
            <a:endParaRPr lang="en-US" sz="4450" dirty="0"/>
          </a:p>
        </p:txBody>
      </p:sp>
      <p:sp>
        <p:nvSpPr>
          <p:cNvPr id="4" name="Text 1"/>
          <p:cNvSpPr/>
          <p:nvPr/>
        </p:nvSpPr>
        <p:spPr>
          <a:xfrm>
            <a:off x="6280190" y="4939784"/>
            <a:ext cx="5224462" cy="566976"/>
          </a:xfrm>
          <a:prstGeom prst="rect">
            <a:avLst/>
          </a:prstGeom>
          <a:noFill/>
          <a:ln/>
        </p:spPr>
        <p:txBody>
          <a:bodyPr wrap="none" lIns="0" tIns="0" rIns="0" bIns="0" rtlCol="0" anchor="t"/>
          <a:lstStyle/>
          <a:p>
            <a:pPr marL="0" indent="0" algn="l">
              <a:lnSpc>
                <a:spcPts val="4450"/>
              </a:lnSpc>
              <a:buNone/>
            </a:pPr>
            <a:r>
              <a:rPr lang="en-US" sz="3550" dirty="0">
                <a:solidFill>
                  <a:srgbClr val="201B18"/>
                </a:solidFill>
                <a:latin typeface="Platypi Medium" pitchFamily="34" charset="0"/>
                <a:ea typeface="Platypi Medium" pitchFamily="34" charset="-122"/>
                <a:cs typeface="Platypi Medium" pitchFamily="34" charset="-120"/>
              </a:rPr>
              <a:t>Innovation Sprint 2025</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88350"/>
            <a:ext cx="12186761" cy="566976"/>
          </a:xfrm>
          <a:prstGeom prst="rect">
            <a:avLst/>
          </a:prstGeom>
          <a:noFill/>
          <a:ln/>
        </p:spPr>
        <p:txBody>
          <a:bodyPr wrap="none" lIns="0" tIns="0" rIns="0" bIns="0" rtlCol="0" anchor="t"/>
          <a:lstStyle/>
          <a:p>
            <a:pPr marL="0" indent="0" algn="l">
              <a:lnSpc>
                <a:spcPts val="4450"/>
              </a:lnSpc>
              <a:buNone/>
            </a:pPr>
            <a:r>
              <a:rPr lang="en-US" sz="3550" dirty="0">
                <a:solidFill>
                  <a:srgbClr val="201B18"/>
                </a:solidFill>
                <a:latin typeface="Platypi Medium" pitchFamily="34" charset="0"/>
                <a:ea typeface="Platypi Medium" pitchFamily="34" charset="-122"/>
                <a:cs typeface="Platypi Medium" pitchFamily="34" charset="-120"/>
              </a:rPr>
              <a:t>Problem Overview: Digital KYC Onboarding Challenges</a:t>
            </a:r>
            <a:endParaRPr lang="en-US" sz="3550" dirty="0"/>
          </a:p>
        </p:txBody>
      </p:sp>
      <p:sp>
        <p:nvSpPr>
          <p:cNvPr id="3" name="Text 1"/>
          <p:cNvSpPr/>
          <p:nvPr/>
        </p:nvSpPr>
        <p:spPr>
          <a:xfrm>
            <a:off x="793790" y="210895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Our initiative focuses on enhancing the digital Know Your Customer (KYC) onboarding journey for HDFC Bank as part of the Innovation Sprint 2025. The core objective is to identify and address user drop-offs, ultimately streamlining the onboarding process.</a:t>
            </a:r>
            <a:endParaRPr lang="en-US" sz="1750" dirty="0"/>
          </a:p>
        </p:txBody>
      </p:sp>
      <p:sp>
        <p:nvSpPr>
          <p:cNvPr id="4" name="Shape 2"/>
          <p:cNvSpPr/>
          <p:nvPr/>
        </p:nvSpPr>
        <p:spPr>
          <a:xfrm>
            <a:off x="793790" y="3452813"/>
            <a:ext cx="6407944" cy="1730812"/>
          </a:xfrm>
          <a:prstGeom prst="roundRect">
            <a:avLst>
              <a:gd name="adj" fmla="val 8453"/>
            </a:avLst>
          </a:prstGeom>
          <a:solidFill>
            <a:srgbClr val="FFFFFF"/>
          </a:solidFill>
          <a:ln w="30480">
            <a:solidFill>
              <a:srgbClr val="D8D4D4"/>
            </a:solidFill>
            <a:prstDash val="solid"/>
          </a:ln>
        </p:spPr>
      </p:sp>
      <p:sp>
        <p:nvSpPr>
          <p:cNvPr id="5" name="Shape 3"/>
          <p:cNvSpPr/>
          <p:nvPr/>
        </p:nvSpPr>
        <p:spPr>
          <a:xfrm>
            <a:off x="763310" y="3452813"/>
            <a:ext cx="121920" cy="1730812"/>
          </a:xfrm>
          <a:prstGeom prst="roundRect">
            <a:avLst>
              <a:gd name="adj" fmla="val 27907"/>
            </a:avLst>
          </a:prstGeom>
          <a:solidFill>
            <a:srgbClr val="3E2513"/>
          </a:solidFill>
          <a:ln/>
        </p:spPr>
      </p:sp>
      <p:sp>
        <p:nvSpPr>
          <p:cNvPr id="6" name="Text 4"/>
          <p:cNvSpPr/>
          <p:nvPr/>
        </p:nvSpPr>
        <p:spPr>
          <a:xfrm>
            <a:off x="1142524" y="37101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Identify Drop-offs</a:t>
            </a:r>
            <a:endParaRPr lang="en-US" sz="2200" dirty="0"/>
          </a:p>
        </p:txBody>
      </p:sp>
      <p:sp>
        <p:nvSpPr>
          <p:cNvPr id="7" name="Text 5"/>
          <p:cNvSpPr/>
          <p:nvPr/>
        </p:nvSpPr>
        <p:spPr>
          <a:xfrm>
            <a:off x="1142524" y="4200525"/>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Pinpointing exact stages where users abandon the digital KYC process.</a:t>
            </a:r>
            <a:endParaRPr lang="en-US" sz="1750" dirty="0"/>
          </a:p>
        </p:txBody>
      </p:sp>
      <p:sp>
        <p:nvSpPr>
          <p:cNvPr id="8" name="Shape 6"/>
          <p:cNvSpPr/>
          <p:nvPr/>
        </p:nvSpPr>
        <p:spPr>
          <a:xfrm>
            <a:off x="7428548" y="3452813"/>
            <a:ext cx="6408063" cy="1730812"/>
          </a:xfrm>
          <a:prstGeom prst="roundRect">
            <a:avLst>
              <a:gd name="adj" fmla="val 8453"/>
            </a:avLst>
          </a:prstGeom>
          <a:solidFill>
            <a:srgbClr val="FFFFFF"/>
          </a:solidFill>
          <a:ln w="30480">
            <a:solidFill>
              <a:srgbClr val="D8D4D4"/>
            </a:solidFill>
            <a:prstDash val="solid"/>
          </a:ln>
        </p:spPr>
      </p:sp>
      <p:sp>
        <p:nvSpPr>
          <p:cNvPr id="9" name="Shape 7"/>
          <p:cNvSpPr/>
          <p:nvPr/>
        </p:nvSpPr>
        <p:spPr>
          <a:xfrm>
            <a:off x="7398067" y="3452813"/>
            <a:ext cx="121920" cy="1730812"/>
          </a:xfrm>
          <a:prstGeom prst="roundRect">
            <a:avLst>
              <a:gd name="adj" fmla="val 27907"/>
            </a:avLst>
          </a:prstGeom>
          <a:solidFill>
            <a:srgbClr val="3E2513"/>
          </a:solidFill>
          <a:ln/>
        </p:spPr>
      </p:sp>
      <p:sp>
        <p:nvSpPr>
          <p:cNvPr id="10" name="Text 8"/>
          <p:cNvSpPr/>
          <p:nvPr/>
        </p:nvSpPr>
        <p:spPr>
          <a:xfrm>
            <a:off x="7777282" y="37101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Redesign Funnel</a:t>
            </a:r>
            <a:endParaRPr lang="en-US" sz="2200" dirty="0"/>
          </a:p>
        </p:txBody>
      </p:sp>
      <p:sp>
        <p:nvSpPr>
          <p:cNvPr id="11" name="Text 9"/>
          <p:cNvSpPr/>
          <p:nvPr/>
        </p:nvSpPr>
        <p:spPr>
          <a:xfrm>
            <a:off x="7777282" y="4200525"/>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Creating a more intuitive and efficient KYC journey to boost completion rates.</a:t>
            </a:r>
            <a:endParaRPr lang="en-US" sz="1750" dirty="0"/>
          </a:p>
        </p:txBody>
      </p:sp>
      <p:sp>
        <p:nvSpPr>
          <p:cNvPr id="12" name="Shape 10"/>
          <p:cNvSpPr/>
          <p:nvPr/>
        </p:nvSpPr>
        <p:spPr>
          <a:xfrm>
            <a:off x="793790" y="5410438"/>
            <a:ext cx="6407944" cy="1730812"/>
          </a:xfrm>
          <a:prstGeom prst="roundRect">
            <a:avLst>
              <a:gd name="adj" fmla="val 8453"/>
            </a:avLst>
          </a:prstGeom>
          <a:solidFill>
            <a:srgbClr val="FFFFFF"/>
          </a:solidFill>
          <a:ln w="30480">
            <a:solidFill>
              <a:srgbClr val="D8D4D4"/>
            </a:solidFill>
            <a:prstDash val="solid"/>
          </a:ln>
        </p:spPr>
      </p:sp>
      <p:sp>
        <p:nvSpPr>
          <p:cNvPr id="13" name="Shape 11"/>
          <p:cNvSpPr/>
          <p:nvPr/>
        </p:nvSpPr>
        <p:spPr>
          <a:xfrm>
            <a:off x="763310" y="5410438"/>
            <a:ext cx="121920" cy="1730812"/>
          </a:xfrm>
          <a:prstGeom prst="roundRect">
            <a:avLst>
              <a:gd name="adj" fmla="val 27907"/>
            </a:avLst>
          </a:prstGeom>
          <a:solidFill>
            <a:srgbClr val="3E2513"/>
          </a:solidFill>
          <a:ln/>
        </p:spPr>
      </p:sp>
      <p:sp>
        <p:nvSpPr>
          <p:cNvPr id="14" name="Text 12"/>
          <p:cNvSpPr/>
          <p:nvPr/>
        </p:nvSpPr>
        <p:spPr>
          <a:xfrm>
            <a:off x="1142524" y="56677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Reduce Errors</a:t>
            </a:r>
            <a:endParaRPr lang="en-US" sz="2200" dirty="0"/>
          </a:p>
        </p:txBody>
      </p:sp>
      <p:sp>
        <p:nvSpPr>
          <p:cNvPr id="15" name="Text 13"/>
          <p:cNvSpPr/>
          <p:nvPr/>
        </p:nvSpPr>
        <p:spPr>
          <a:xfrm>
            <a:off x="1142524" y="6158151"/>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Minimising errors during document submission and verification to ensure accuracy.</a:t>
            </a:r>
            <a:endParaRPr lang="en-US" sz="1750" dirty="0"/>
          </a:p>
        </p:txBody>
      </p:sp>
      <p:sp>
        <p:nvSpPr>
          <p:cNvPr id="16" name="Shape 14"/>
          <p:cNvSpPr/>
          <p:nvPr/>
        </p:nvSpPr>
        <p:spPr>
          <a:xfrm>
            <a:off x="7428548" y="5410438"/>
            <a:ext cx="6408063" cy="1730812"/>
          </a:xfrm>
          <a:prstGeom prst="roundRect">
            <a:avLst>
              <a:gd name="adj" fmla="val 8453"/>
            </a:avLst>
          </a:prstGeom>
          <a:solidFill>
            <a:srgbClr val="FFFFFF"/>
          </a:solidFill>
          <a:ln w="30480">
            <a:solidFill>
              <a:srgbClr val="D8D4D4"/>
            </a:solidFill>
            <a:prstDash val="solid"/>
          </a:ln>
        </p:spPr>
      </p:sp>
      <p:sp>
        <p:nvSpPr>
          <p:cNvPr id="17" name="Shape 15"/>
          <p:cNvSpPr/>
          <p:nvPr/>
        </p:nvSpPr>
        <p:spPr>
          <a:xfrm>
            <a:off x="7398067" y="5410438"/>
            <a:ext cx="121920" cy="1730812"/>
          </a:xfrm>
          <a:prstGeom prst="roundRect">
            <a:avLst>
              <a:gd name="adj" fmla="val 27907"/>
            </a:avLst>
          </a:prstGeom>
          <a:solidFill>
            <a:srgbClr val="3E2513"/>
          </a:solidFill>
          <a:ln/>
        </p:spPr>
      </p:sp>
      <p:sp>
        <p:nvSpPr>
          <p:cNvPr id="18" name="Text 16"/>
          <p:cNvSpPr/>
          <p:nvPr/>
        </p:nvSpPr>
        <p:spPr>
          <a:xfrm>
            <a:off x="7777282" y="5667732"/>
            <a:ext cx="3022759"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Speed Up Onboarding</a:t>
            </a:r>
            <a:endParaRPr lang="en-US" sz="2200" dirty="0"/>
          </a:p>
        </p:txBody>
      </p:sp>
      <p:sp>
        <p:nvSpPr>
          <p:cNvPr id="19" name="Text 17"/>
          <p:cNvSpPr/>
          <p:nvPr/>
        </p:nvSpPr>
        <p:spPr>
          <a:xfrm>
            <a:off x="7777282" y="6158151"/>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Accelerating the overall KYC process to improve user experience and operational efficiency.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478274" y="378500"/>
            <a:ext cx="5756315" cy="341709"/>
          </a:xfrm>
          <a:prstGeom prst="rect">
            <a:avLst/>
          </a:prstGeom>
          <a:noFill/>
          <a:ln/>
        </p:spPr>
        <p:txBody>
          <a:bodyPr wrap="none" lIns="0" tIns="0" rIns="0" bIns="0" rtlCol="0" anchor="t"/>
          <a:lstStyle/>
          <a:p>
            <a:pPr marL="0" indent="0" algn="l">
              <a:lnSpc>
                <a:spcPts val="2650"/>
              </a:lnSpc>
              <a:buNone/>
            </a:pPr>
            <a:r>
              <a:rPr lang="en-US" sz="2150" dirty="0">
                <a:solidFill>
                  <a:srgbClr val="201B18"/>
                </a:solidFill>
                <a:latin typeface="Platypi Medium" pitchFamily="34" charset="0"/>
                <a:ea typeface="Platypi Medium" pitchFamily="34" charset="-122"/>
                <a:cs typeface="Platypi Medium" pitchFamily="34" charset="-120"/>
              </a:rPr>
              <a:t>Current KYC Journey &amp; Drop-off Summary</a:t>
            </a:r>
            <a:endParaRPr lang="en-US" sz="2150" dirty="0"/>
          </a:p>
        </p:txBody>
      </p:sp>
      <p:sp>
        <p:nvSpPr>
          <p:cNvPr id="4" name="Text 1"/>
          <p:cNvSpPr/>
          <p:nvPr/>
        </p:nvSpPr>
        <p:spPr>
          <a:xfrm>
            <a:off x="478274" y="925116"/>
            <a:ext cx="8187452" cy="437198"/>
          </a:xfrm>
          <a:prstGeom prst="rect">
            <a:avLst/>
          </a:prstGeom>
          <a:noFill/>
          <a:ln/>
        </p:spPr>
        <p:txBody>
          <a:bodyPr wrap="squar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The existing digital KYC process faces significant challenges, with a high overall drop-off rate. Key problem areas have been identified across crucial steps, leading to user frustration and incomplete applications.</a:t>
            </a:r>
            <a:endParaRPr lang="en-US" sz="1050" dirty="0"/>
          </a:p>
        </p:txBody>
      </p:sp>
      <p:sp>
        <p:nvSpPr>
          <p:cNvPr id="5" name="Shape 2"/>
          <p:cNvSpPr/>
          <p:nvPr/>
        </p:nvSpPr>
        <p:spPr>
          <a:xfrm>
            <a:off x="478274" y="1516023"/>
            <a:ext cx="8187452" cy="1333619"/>
          </a:xfrm>
          <a:prstGeom prst="roundRect">
            <a:avLst>
              <a:gd name="adj" fmla="val 1537"/>
            </a:avLst>
          </a:prstGeom>
          <a:solidFill>
            <a:srgbClr val="F9F7F7"/>
          </a:solidFill>
          <a:ln/>
        </p:spPr>
      </p:sp>
      <p:sp>
        <p:nvSpPr>
          <p:cNvPr id="6" name="Shape 3"/>
          <p:cNvSpPr/>
          <p:nvPr/>
        </p:nvSpPr>
        <p:spPr>
          <a:xfrm>
            <a:off x="614839" y="1652588"/>
            <a:ext cx="409932" cy="409932"/>
          </a:xfrm>
          <a:prstGeom prst="roundRect">
            <a:avLst>
              <a:gd name="adj" fmla="val 22303908"/>
            </a:avLst>
          </a:prstGeom>
          <a:solidFill>
            <a:srgbClr val="3E2513"/>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7591" y="1765340"/>
            <a:ext cx="184428" cy="184428"/>
          </a:xfrm>
          <a:prstGeom prst="rect">
            <a:avLst/>
          </a:prstGeom>
        </p:spPr>
      </p:pic>
      <p:sp>
        <p:nvSpPr>
          <p:cNvPr id="8" name="Text 4"/>
          <p:cNvSpPr/>
          <p:nvPr/>
        </p:nvSpPr>
        <p:spPr>
          <a:xfrm>
            <a:off x="614839" y="2199084"/>
            <a:ext cx="1708309" cy="213479"/>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Document Scanning</a:t>
            </a:r>
            <a:endParaRPr lang="en-US" sz="1300" dirty="0"/>
          </a:p>
        </p:txBody>
      </p:sp>
      <p:sp>
        <p:nvSpPr>
          <p:cNvPr id="9" name="Text 5"/>
          <p:cNvSpPr/>
          <p:nvPr/>
        </p:nvSpPr>
        <p:spPr>
          <a:xfrm>
            <a:off x="614839" y="2494478"/>
            <a:ext cx="7914323" cy="218599"/>
          </a:xfrm>
          <a:prstGeom prst="rect">
            <a:avLst/>
          </a:prstGeom>
          <a:noFill/>
          <a:ln/>
        </p:spPr>
        <p:txBody>
          <a:bodyPr wrap="non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Users encounter difficulties in accurately scanning required documents.</a:t>
            </a:r>
            <a:endParaRPr lang="en-US" sz="1050" dirty="0"/>
          </a:p>
        </p:txBody>
      </p:sp>
      <p:sp>
        <p:nvSpPr>
          <p:cNvPr id="10" name="Shape 6"/>
          <p:cNvSpPr/>
          <p:nvPr/>
        </p:nvSpPr>
        <p:spPr>
          <a:xfrm>
            <a:off x="478274" y="2986207"/>
            <a:ext cx="8187452" cy="1333619"/>
          </a:xfrm>
          <a:prstGeom prst="roundRect">
            <a:avLst>
              <a:gd name="adj" fmla="val 1537"/>
            </a:avLst>
          </a:prstGeom>
          <a:solidFill>
            <a:srgbClr val="F9F7F7"/>
          </a:solidFill>
          <a:ln/>
        </p:spPr>
      </p:sp>
      <p:sp>
        <p:nvSpPr>
          <p:cNvPr id="11" name="Shape 7"/>
          <p:cNvSpPr/>
          <p:nvPr/>
        </p:nvSpPr>
        <p:spPr>
          <a:xfrm>
            <a:off x="614839" y="3122771"/>
            <a:ext cx="409932" cy="409932"/>
          </a:xfrm>
          <a:prstGeom prst="roundRect">
            <a:avLst>
              <a:gd name="adj" fmla="val 22303908"/>
            </a:avLst>
          </a:prstGeom>
          <a:solidFill>
            <a:srgbClr val="3E2513"/>
          </a:solidFill>
          <a:ln/>
        </p:spPr>
      </p:sp>
      <p:pic>
        <p:nvPicPr>
          <p:cNvPr id="12"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7591" y="3235523"/>
            <a:ext cx="184428" cy="184428"/>
          </a:xfrm>
          <a:prstGeom prst="rect">
            <a:avLst/>
          </a:prstGeom>
        </p:spPr>
      </p:pic>
      <p:sp>
        <p:nvSpPr>
          <p:cNvPr id="13" name="Text 8"/>
          <p:cNvSpPr/>
          <p:nvPr/>
        </p:nvSpPr>
        <p:spPr>
          <a:xfrm>
            <a:off x="614839" y="3669268"/>
            <a:ext cx="1708309" cy="213479"/>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Document Upload</a:t>
            </a:r>
            <a:endParaRPr lang="en-US" sz="1300" dirty="0"/>
          </a:p>
        </p:txBody>
      </p:sp>
      <p:sp>
        <p:nvSpPr>
          <p:cNvPr id="14" name="Text 9"/>
          <p:cNvSpPr/>
          <p:nvPr/>
        </p:nvSpPr>
        <p:spPr>
          <a:xfrm>
            <a:off x="614839" y="3964662"/>
            <a:ext cx="7914323" cy="218599"/>
          </a:xfrm>
          <a:prstGeom prst="rect">
            <a:avLst/>
          </a:prstGeom>
          <a:noFill/>
          <a:ln/>
        </p:spPr>
        <p:txBody>
          <a:bodyPr wrap="non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Issues arise during the upload phase, often due to file size or network constraints.</a:t>
            </a:r>
            <a:endParaRPr lang="en-US" sz="1050" dirty="0"/>
          </a:p>
        </p:txBody>
      </p:sp>
      <p:sp>
        <p:nvSpPr>
          <p:cNvPr id="15" name="Shape 10"/>
          <p:cNvSpPr/>
          <p:nvPr/>
        </p:nvSpPr>
        <p:spPr>
          <a:xfrm>
            <a:off x="478274" y="4456390"/>
            <a:ext cx="8187452" cy="1333619"/>
          </a:xfrm>
          <a:prstGeom prst="roundRect">
            <a:avLst>
              <a:gd name="adj" fmla="val 1537"/>
            </a:avLst>
          </a:prstGeom>
          <a:solidFill>
            <a:srgbClr val="F9F7F7"/>
          </a:solidFill>
          <a:ln/>
        </p:spPr>
      </p:sp>
      <p:sp>
        <p:nvSpPr>
          <p:cNvPr id="16" name="Shape 11"/>
          <p:cNvSpPr/>
          <p:nvPr/>
        </p:nvSpPr>
        <p:spPr>
          <a:xfrm>
            <a:off x="614839" y="4592955"/>
            <a:ext cx="409932" cy="409932"/>
          </a:xfrm>
          <a:prstGeom prst="roundRect">
            <a:avLst>
              <a:gd name="adj" fmla="val 22303908"/>
            </a:avLst>
          </a:prstGeom>
          <a:solidFill>
            <a:srgbClr val="3E2513"/>
          </a:solidFill>
          <a:ln/>
        </p:spPr>
      </p:sp>
      <p:pic>
        <p:nvPicPr>
          <p:cNvPr id="17"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7591" y="4705707"/>
            <a:ext cx="184428" cy="184428"/>
          </a:xfrm>
          <a:prstGeom prst="rect">
            <a:avLst/>
          </a:prstGeom>
        </p:spPr>
      </p:pic>
      <p:sp>
        <p:nvSpPr>
          <p:cNvPr id="18" name="Text 12"/>
          <p:cNvSpPr/>
          <p:nvPr/>
        </p:nvSpPr>
        <p:spPr>
          <a:xfrm>
            <a:off x="614839" y="5139452"/>
            <a:ext cx="1708309" cy="213479"/>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KYC Verification</a:t>
            </a:r>
            <a:endParaRPr lang="en-US" sz="1300" dirty="0"/>
          </a:p>
        </p:txBody>
      </p:sp>
      <p:sp>
        <p:nvSpPr>
          <p:cNvPr id="19" name="Text 13"/>
          <p:cNvSpPr/>
          <p:nvPr/>
        </p:nvSpPr>
        <p:spPr>
          <a:xfrm>
            <a:off x="614839" y="5434846"/>
            <a:ext cx="7914323" cy="218599"/>
          </a:xfrm>
          <a:prstGeom prst="rect">
            <a:avLst/>
          </a:prstGeom>
          <a:noFill/>
          <a:ln/>
        </p:spPr>
        <p:txBody>
          <a:bodyPr wrap="non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A notable number of users fail to complete the verification stage.</a:t>
            </a:r>
            <a:endParaRPr lang="en-US" sz="1050" dirty="0"/>
          </a:p>
        </p:txBody>
      </p:sp>
      <p:sp>
        <p:nvSpPr>
          <p:cNvPr id="20" name="Shape 14"/>
          <p:cNvSpPr/>
          <p:nvPr/>
        </p:nvSpPr>
        <p:spPr>
          <a:xfrm>
            <a:off x="478274" y="5926574"/>
            <a:ext cx="8187452" cy="1333619"/>
          </a:xfrm>
          <a:prstGeom prst="roundRect">
            <a:avLst>
              <a:gd name="adj" fmla="val 1537"/>
            </a:avLst>
          </a:prstGeom>
          <a:solidFill>
            <a:srgbClr val="F9F7F7"/>
          </a:solidFill>
          <a:ln/>
        </p:spPr>
      </p:sp>
      <p:sp>
        <p:nvSpPr>
          <p:cNvPr id="21" name="Shape 15"/>
          <p:cNvSpPr/>
          <p:nvPr/>
        </p:nvSpPr>
        <p:spPr>
          <a:xfrm>
            <a:off x="614839" y="6063139"/>
            <a:ext cx="409932" cy="409932"/>
          </a:xfrm>
          <a:prstGeom prst="roundRect">
            <a:avLst>
              <a:gd name="adj" fmla="val 22303908"/>
            </a:avLst>
          </a:prstGeom>
          <a:solidFill>
            <a:srgbClr val="3E2513"/>
          </a:solidFill>
          <a:ln/>
        </p:spPr>
      </p:sp>
      <p:pic>
        <p:nvPicPr>
          <p:cNvPr id="22"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7591" y="6175891"/>
            <a:ext cx="184428" cy="184428"/>
          </a:xfrm>
          <a:prstGeom prst="rect">
            <a:avLst/>
          </a:prstGeom>
        </p:spPr>
      </p:pic>
      <p:sp>
        <p:nvSpPr>
          <p:cNvPr id="23" name="Text 16"/>
          <p:cNvSpPr/>
          <p:nvPr/>
        </p:nvSpPr>
        <p:spPr>
          <a:xfrm>
            <a:off x="614839" y="6609636"/>
            <a:ext cx="1708309" cy="213479"/>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Selfie Capture</a:t>
            </a:r>
            <a:endParaRPr lang="en-US" sz="1300" dirty="0"/>
          </a:p>
        </p:txBody>
      </p:sp>
      <p:sp>
        <p:nvSpPr>
          <p:cNvPr id="24" name="Text 17"/>
          <p:cNvSpPr/>
          <p:nvPr/>
        </p:nvSpPr>
        <p:spPr>
          <a:xfrm>
            <a:off x="614839" y="6905030"/>
            <a:ext cx="7914323" cy="218599"/>
          </a:xfrm>
          <a:prstGeom prst="rect">
            <a:avLst/>
          </a:prstGeom>
          <a:noFill/>
          <a:ln/>
        </p:spPr>
        <p:txBody>
          <a:bodyPr wrap="non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Challenges in capturing a clear and valid selfie contribute to drop-offs.</a:t>
            </a:r>
            <a:endParaRPr lang="en-US" sz="1050" dirty="0"/>
          </a:p>
        </p:txBody>
      </p:sp>
      <p:sp>
        <p:nvSpPr>
          <p:cNvPr id="25" name="Text 18"/>
          <p:cNvSpPr/>
          <p:nvPr/>
        </p:nvSpPr>
        <p:spPr>
          <a:xfrm>
            <a:off x="478274" y="7413903"/>
            <a:ext cx="8187452" cy="437198"/>
          </a:xfrm>
          <a:prstGeom prst="rect">
            <a:avLst/>
          </a:prstGeom>
          <a:noFill/>
          <a:ln/>
        </p:spPr>
        <p:txBody>
          <a:bodyPr wrap="square" lIns="0" tIns="0" rIns="0" bIns="0" rtlCol="0" anchor="t"/>
          <a:lstStyle/>
          <a:p>
            <a:pPr marL="0" indent="0" algn="l">
              <a:lnSpc>
                <a:spcPts val="1700"/>
              </a:lnSpc>
              <a:buNone/>
            </a:pPr>
            <a:r>
              <a:rPr lang="en-US" sz="1050" dirty="0">
                <a:solidFill>
                  <a:srgbClr val="504C49"/>
                </a:solidFill>
                <a:latin typeface="Source Serif 4" pitchFamily="34" charset="0"/>
                <a:ea typeface="Source Serif 4" pitchFamily="34" charset="-122"/>
                <a:cs typeface="Source Serif 4" pitchFamily="34" charset="-120"/>
              </a:rPr>
              <a:t>Further issues include slow processing times, OCR failures, and confusing user interfaces, all contributing to a suboptimal onboarding experience. The overall funnel completion currently stands at approximately </a:t>
            </a:r>
            <a:r>
              <a:rPr lang="en-US" sz="1050" dirty="0">
                <a:solidFill>
                  <a:srgbClr val="3E2513"/>
                </a:solidFill>
                <a:latin typeface="Source Serif 4" pitchFamily="34" charset="0"/>
                <a:ea typeface="Source Serif 4" pitchFamily="34" charset="-122"/>
                <a:cs typeface="Source Serif 4" pitchFamily="34" charset="-120"/>
              </a:rPr>
              <a:t>32%</a:t>
            </a:r>
            <a:r>
              <a:rPr lang="en-US" sz="1050" dirty="0">
                <a:solidFill>
                  <a:srgbClr val="504C49"/>
                </a:solidFill>
                <a:latin typeface="Source Serif 4" pitchFamily="34" charset="0"/>
                <a:ea typeface="Source Serif 4" pitchFamily="34" charset="-122"/>
                <a:cs typeface="Source Serif 4" pitchFamily="34" charset="-120"/>
              </a:rPr>
              <a: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8515" y="391716"/>
            <a:ext cx="6614160" cy="356116"/>
          </a:xfrm>
          <a:prstGeom prst="rect">
            <a:avLst/>
          </a:prstGeom>
          <a:noFill/>
          <a:ln/>
        </p:spPr>
        <p:txBody>
          <a:bodyPr wrap="none" lIns="0" tIns="0" rIns="0" bIns="0" rtlCol="0" anchor="t"/>
          <a:lstStyle/>
          <a:p>
            <a:pPr marL="0" indent="0" algn="l">
              <a:lnSpc>
                <a:spcPts val="2800"/>
              </a:lnSpc>
              <a:buNone/>
            </a:pPr>
            <a:r>
              <a:rPr lang="en-US" sz="2200" dirty="0">
                <a:solidFill>
                  <a:srgbClr val="201B18"/>
                </a:solidFill>
                <a:latin typeface="Platypi Medium" pitchFamily="34" charset="0"/>
                <a:ea typeface="Platypi Medium" pitchFamily="34" charset="-122"/>
                <a:cs typeface="Platypi Medium" pitchFamily="34" charset="-120"/>
              </a:rPr>
              <a:t>Funnel Performance: Stage-wise Drop-off Rates</a:t>
            </a:r>
            <a:endParaRPr lang="en-US" sz="2200" dirty="0"/>
          </a:p>
        </p:txBody>
      </p:sp>
      <p:sp>
        <p:nvSpPr>
          <p:cNvPr id="3" name="Text 1"/>
          <p:cNvSpPr/>
          <p:nvPr/>
        </p:nvSpPr>
        <p:spPr>
          <a:xfrm>
            <a:off x="498515" y="1032629"/>
            <a:ext cx="13633371" cy="227767"/>
          </a:xfrm>
          <a:prstGeom prst="rect">
            <a:avLst/>
          </a:prstGeom>
          <a:noFill/>
          <a:ln/>
        </p:spPr>
        <p:txBody>
          <a:bodyPr wrap="none" lIns="0" tIns="0" rIns="0" bIns="0" rtlCol="0" anchor="t"/>
          <a:lstStyle/>
          <a:p>
            <a:pPr marL="0" indent="0" algn="l">
              <a:lnSpc>
                <a:spcPts val="1750"/>
              </a:lnSpc>
              <a:buNone/>
            </a:pPr>
            <a:r>
              <a:rPr lang="en-US" sz="1100" dirty="0">
                <a:solidFill>
                  <a:srgbClr val="504C49"/>
                </a:solidFill>
                <a:latin typeface="Source Serif 4" pitchFamily="34" charset="0"/>
                <a:ea typeface="Source Serif 4" pitchFamily="34" charset="-122"/>
                <a:cs typeface="Source Serif 4" pitchFamily="34" charset="-120"/>
              </a:rPr>
              <a:t>Analysis of the current KYC journey reveals critical drop-off points, with document scanning being the most significant hurdle for users.</a:t>
            </a:r>
            <a:endParaRPr lang="en-US" sz="1100" dirty="0"/>
          </a:p>
        </p:txBody>
      </p:sp>
      <p:pic>
        <p:nvPicPr>
          <p:cNvPr id="4" name="Image 0" descr="preencoded.png"/>
          <p:cNvPicPr>
            <a:picLocks noChangeAspect="1"/>
          </p:cNvPicPr>
          <p:nvPr/>
        </p:nvPicPr>
        <p:blipFill>
          <a:blip r:embed="rId3"/>
          <a:stretch>
            <a:fillRect/>
          </a:stretch>
        </p:blipFill>
        <p:spPr>
          <a:xfrm>
            <a:off x="498515" y="1545192"/>
            <a:ext cx="11327040" cy="6343107"/>
          </a:xfrm>
          <a:prstGeom prst="rect">
            <a:avLst/>
          </a:prstGeom>
        </p:spPr>
      </p:pic>
      <p:sp>
        <p:nvSpPr>
          <p:cNvPr id="5" name="Text 2"/>
          <p:cNvSpPr/>
          <p:nvPr/>
        </p:nvSpPr>
        <p:spPr>
          <a:xfrm>
            <a:off x="498515" y="9215557"/>
            <a:ext cx="13633371" cy="227767"/>
          </a:xfrm>
          <a:prstGeom prst="rect">
            <a:avLst/>
          </a:prstGeom>
          <a:noFill/>
          <a:ln/>
        </p:spPr>
        <p:txBody>
          <a:bodyPr wrap="none" lIns="0" tIns="0" rIns="0" bIns="0" rtlCol="0" anchor="t"/>
          <a:lstStyle/>
          <a:p>
            <a:pPr marL="0" indent="0" algn="l">
              <a:lnSpc>
                <a:spcPts val="1750"/>
              </a:lnSpc>
              <a:buNone/>
            </a:pPr>
            <a:r>
              <a:rPr lang="en-US" sz="1100" dirty="0">
                <a:solidFill>
                  <a:srgbClr val="504C49"/>
                </a:solidFill>
                <a:latin typeface="Source Serif 4" pitchFamily="34" charset="0"/>
                <a:ea typeface="Source Serif 4" pitchFamily="34" charset="-122"/>
                <a:cs typeface="Source Serif 4" pitchFamily="34" charset="-120"/>
              </a:rPr>
              <a:t>The data clearly highlights the need for targeted improvements at each stage, especially focusing on the scanning and uploading processes, to significantly improve the overall completion rate.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6276" y="539234"/>
            <a:ext cx="9960293" cy="490180"/>
          </a:xfrm>
          <a:prstGeom prst="rect">
            <a:avLst/>
          </a:prstGeom>
          <a:noFill/>
          <a:ln/>
        </p:spPr>
        <p:txBody>
          <a:bodyPr wrap="none" lIns="0" tIns="0" rIns="0" bIns="0" rtlCol="0" anchor="t"/>
          <a:lstStyle/>
          <a:p>
            <a:pPr marL="0" indent="0" algn="l">
              <a:lnSpc>
                <a:spcPts val="3850"/>
              </a:lnSpc>
              <a:buNone/>
            </a:pPr>
            <a:r>
              <a:rPr lang="en-US" sz="3050" dirty="0">
                <a:solidFill>
                  <a:srgbClr val="201B18"/>
                </a:solidFill>
                <a:latin typeface="Platypi Medium" pitchFamily="34" charset="0"/>
                <a:ea typeface="Platypi Medium" pitchFamily="34" charset="-122"/>
                <a:cs typeface="Platypi Medium" pitchFamily="34" charset="-120"/>
              </a:rPr>
              <a:t>Dataset Insights: Understanding User Failure Points</a:t>
            </a:r>
            <a:endParaRPr lang="en-US" sz="3050" dirty="0"/>
          </a:p>
        </p:txBody>
      </p:sp>
      <p:sp>
        <p:nvSpPr>
          <p:cNvPr id="3" name="Text 1"/>
          <p:cNvSpPr/>
          <p:nvPr/>
        </p:nvSpPr>
        <p:spPr>
          <a:xfrm>
            <a:off x="686276" y="1421487"/>
            <a:ext cx="13257848" cy="62745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A detailed analysis of the 400-row session dataset provides crucial insights into the specific errors and behaviours contributing to drop-offs during the digital KYC process.</a:t>
            </a:r>
            <a:endParaRPr lang="en-US" sz="1500" dirty="0"/>
          </a:p>
        </p:txBody>
      </p:sp>
      <p:sp>
        <p:nvSpPr>
          <p:cNvPr id="4" name="Shape 2"/>
          <p:cNvSpPr/>
          <p:nvPr/>
        </p:nvSpPr>
        <p:spPr>
          <a:xfrm>
            <a:off x="686276" y="2269450"/>
            <a:ext cx="6530935" cy="588169"/>
          </a:xfrm>
          <a:prstGeom prst="roundRect">
            <a:avLst>
              <a:gd name="adj" fmla="val 480060"/>
            </a:avLst>
          </a:prstGeom>
          <a:solidFill>
            <a:srgbClr val="F9F7F7"/>
          </a:solidFill>
          <a:ln/>
        </p:spPr>
      </p:sp>
      <p:sp>
        <p:nvSpPr>
          <p:cNvPr id="5" name="Text 3"/>
          <p:cNvSpPr/>
          <p:nvPr/>
        </p:nvSpPr>
        <p:spPr>
          <a:xfrm>
            <a:off x="3804642" y="2379702"/>
            <a:ext cx="294084" cy="367546"/>
          </a:xfrm>
          <a:prstGeom prst="rect">
            <a:avLst/>
          </a:prstGeom>
          <a:noFill/>
          <a:ln/>
        </p:spPr>
        <p:txBody>
          <a:bodyPr wrap="none" lIns="0" tIns="0" rIns="0" bIns="0" rtlCol="0" anchor="t"/>
          <a:lstStyle/>
          <a:p>
            <a:pPr marL="0" indent="0" algn="l">
              <a:lnSpc>
                <a:spcPts val="2300"/>
              </a:lnSpc>
              <a:buNone/>
            </a:pPr>
            <a:r>
              <a:rPr lang="en-US" sz="2300" dirty="0">
                <a:solidFill>
                  <a:srgbClr val="504C49"/>
                </a:solidFill>
                <a:latin typeface="Platypi Medium" pitchFamily="34" charset="0"/>
                <a:ea typeface="Platypi Medium" pitchFamily="34" charset="-122"/>
                <a:cs typeface="Platypi Medium" pitchFamily="34" charset="-120"/>
              </a:rPr>
              <a:t>1</a:t>
            </a:r>
            <a:endParaRPr lang="en-US" sz="2300" dirty="0"/>
          </a:p>
        </p:txBody>
      </p:sp>
      <p:sp>
        <p:nvSpPr>
          <p:cNvPr id="6" name="Text 4"/>
          <p:cNvSpPr/>
          <p:nvPr/>
        </p:nvSpPr>
        <p:spPr>
          <a:xfrm>
            <a:off x="882253" y="3053596"/>
            <a:ext cx="3029069" cy="306348"/>
          </a:xfrm>
          <a:prstGeom prst="rect">
            <a:avLst/>
          </a:prstGeom>
          <a:noFill/>
          <a:ln/>
        </p:spPr>
        <p:txBody>
          <a:bodyPr wrap="none" lIns="0" tIns="0" rIns="0" bIns="0" rtlCol="0" anchor="t"/>
          <a:lstStyle/>
          <a:p>
            <a:pPr marL="0" indent="0" algn="l">
              <a:lnSpc>
                <a:spcPts val="2400"/>
              </a:lnSpc>
              <a:buNone/>
            </a:pPr>
            <a:r>
              <a:rPr lang="en-US" sz="1900" dirty="0">
                <a:solidFill>
                  <a:srgbClr val="504C49"/>
                </a:solidFill>
                <a:latin typeface="Platypi Medium" pitchFamily="34" charset="0"/>
                <a:ea typeface="Platypi Medium" pitchFamily="34" charset="-122"/>
                <a:cs typeface="Platypi Medium" pitchFamily="34" charset="-120"/>
              </a:rPr>
              <a:t>Common Error Messages</a:t>
            </a:r>
            <a:endParaRPr lang="en-US" sz="1900" dirty="0"/>
          </a:p>
        </p:txBody>
      </p:sp>
      <p:sp>
        <p:nvSpPr>
          <p:cNvPr id="7" name="Text 5"/>
          <p:cNvSpPr/>
          <p:nvPr/>
        </p:nvSpPr>
        <p:spPr>
          <a:xfrm>
            <a:off x="882253" y="3477578"/>
            <a:ext cx="6138982" cy="94118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"Please scan the correct document," "KYC data not found," "Please select correct document type," and "Maximum tries exceeded" are frequently observed.</a:t>
            </a:r>
            <a:endParaRPr lang="en-US" sz="1500" dirty="0"/>
          </a:p>
        </p:txBody>
      </p:sp>
      <p:sp>
        <p:nvSpPr>
          <p:cNvPr id="8" name="Shape 6"/>
          <p:cNvSpPr/>
          <p:nvPr/>
        </p:nvSpPr>
        <p:spPr>
          <a:xfrm>
            <a:off x="7413188" y="2269450"/>
            <a:ext cx="6530935" cy="588169"/>
          </a:xfrm>
          <a:prstGeom prst="roundRect">
            <a:avLst>
              <a:gd name="adj" fmla="val 480060"/>
            </a:avLst>
          </a:prstGeom>
          <a:solidFill>
            <a:srgbClr val="F9F7F7"/>
          </a:solidFill>
          <a:ln/>
        </p:spPr>
      </p:sp>
      <p:sp>
        <p:nvSpPr>
          <p:cNvPr id="9" name="Text 7"/>
          <p:cNvSpPr/>
          <p:nvPr/>
        </p:nvSpPr>
        <p:spPr>
          <a:xfrm>
            <a:off x="10531554" y="2379702"/>
            <a:ext cx="294084" cy="367546"/>
          </a:xfrm>
          <a:prstGeom prst="rect">
            <a:avLst/>
          </a:prstGeom>
          <a:noFill/>
          <a:ln/>
        </p:spPr>
        <p:txBody>
          <a:bodyPr wrap="none" lIns="0" tIns="0" rIns="0" bIns="0" rtlCol="0" anchor="t"/>
          <a:lstStyle/>
          <a:p>
            <a:pPr marL="0" indent="0" algn="l">
              <a:lnSpc>
                <a:spcPts val="2300"/>
              </a:lnSpc>
              <a:buNone/>
            </a:pPr>
            <a:r>
              <a:rPr lang="en-US" sz="2300" dirty="0">
                <a:solidFill>
                  <a:srgbClr val="504C49"/>
                </a:solidFill>
                <a:latin typeface="Platypi Medium" pitchFamily="34" charset="0"/>
                <a:ea typeface="Platypi Medium" pitchFamily="34" charset="-122"/>
                <a:cs typeface="Platypi Medium" pitchFamily="34" charset="-120"/>
              </a:rPr>
              <a:t>2</a:t>
            </a:r>
            <a:endParaRPr lang="en-US" sz="2300" dirty="0"/>
          </a:p>
        </p:txBody>
      </p:sp>
      <p:sp>
        <p:nvSpPr>
          <p:cNvPr id="10" name="Text 8"/>
          <p:cNvSpPr/>
          <p:nvPr/>
        </p:nvSpPr>
        <p:spPr>
          <a:xfrm>
            <a:off x="7609165" y="3053596"/>
            <a:ext cx="3239810" cy="306348"/>
          </a:xfrm>
          <a:prstGeom prst="rect">
            <a:avLst/>
          </a:prstGeom>
          <a:noFill/>
          <a:ln/>
        </p:spPr>
        <p:txBody>
          <a:bodyPr wrap="none" lIns="0" tIns="0" rIns="0" bIns="0" rtlCol="0" anchor="t"/>
          <a:lstStyle/>
          <a:p>
            <a:pPr marL="0" indent="0" algn="l">
              <a:lnSpc>
                <a:spcPts val="2400"/>
              </a:lnSpc>
              <a:buNone/>
            </a:pPr>
            <a:r>
              <a:rPr lang="en-US" sz="1900" dirty="0">
                <a:solidFill>
                  <a:srgbClr val="504C49"/>
                </a:solidFill>
                <a:latin typeface="Platypi Medium" pitchFamily="34" charset="0"/>
                <a:ea typeface="Platypi Medium" pitchFamily="34" charset="-122"/>
                <a:cs typeface="Platypi Medium" pitchFamily="34" charset="-120"/>
              </a:rPr>
              <a:t>Attempt Count for Failures</a:t>
            </a:r>
            <a:endParaRPr lang="en-US" sz="1900" dirty="0"/>
          </a:p>
        </p:txBody>
      </p:sp>
      <p:sp>
        <p:nvSpPr>
          <p:cNvPr id="11" name="Text 9"/>
          <p:cNvSpPr/>
          <p:nvPr/>
        </p:nvSpPr>
        <p:spPr>
          <a:xfrm>
            <a:off x="7609165" y="3477578"/>
            <a:ext cx="6138982" cy="62745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Most users encounter failures at their second or third attempt, with many reaching hard lockouts after four attempts.</a:t>
            </a:r>
            <a:endParaRPr lang="en-US" sz="1500" dirty="0"/>
          </a:p>
        </p:txBody>
      </p:sp>
      <p:sp>
        <p:nvSpPr>
          <p:cNvPr id="12" name="Shape 10"/>
          <p:cNvSpPr/>
          <p:nvPr/>
        </p:nvSpPr>
        <p:spPr>
          <a:xfrm>
            <a:off x="686276" y="4810720"/>
            <a:ext cx="6530935" cy="588169"/>
          </a:xfrm>
          <a:prstGeom prst="roundRect">
            <a:avLst>
              <a:gd name="adj" fmla="val 480060"/>
            </a:avLst>
          </a:prstGeom>
          <a:solidFill>
            <a:srgbClr val="F9F7F7"/>
          </a:solidFill>
          <a:ln/>
        </p:spPr>
      </p:sp>
      <p:sp>
        <p:nvSpPr>
          <p:cNvPr id="13" name="Text 11"/>
          <p:cNvSpPr/>
          <p:nvPr/>
        </p:nvSpPr>
        <p:spPr>
          <a:xfrm>
            <a:off x="3804642" y="4920972"/>
            <a:ext cx="294084" cy="367546"/>
          </a:xfrm>
          <a:prstGeom prst="rect">
            <a:avLst/>
          </a:prstGeom>
          <a:noFill/>
          <a:ln/>
        </p:spPr>
        <p:txBody>
          <a:bodyPr wrap="none" lIns="0" tIns="0" rIns="0" bIns="0" rtlCol="0" anchor="t"/>
          <a:lstStyle/>
          <a:p>
            <a:pPr marL="0" indent="0" algn="l">
              <a:lnSpc>
                <a:spcPts val="2300"/>
              </a:lnSpc>
              <a:buNone/>
            </a:pPr>
            <a:r>
              <a:rPr lang="en-US" sz="2300" dirty="0">
                <a:solidFill>
                  <a:srgbClr val="504C49"/>
                </a:solidFill>
                <a:latin typeface="Platypi Medium" pitchFamily="34" charset="0"/>
                <a:ea typeface="Platypi Medium" pitchFamily="34" charset="-122"/>
                <a:cs typeface="Platypi Medium" pitchFamily="34" charset="-120"/>
              </a:rPr>
              <a:t>3</a:t>
            </a:r>
            <a:endParaRPr lang="en-US" sz="2300" dirty="0"/>
          </a:p>
        </p:txBody>
      </p:sp>
      <p:sp>
        <p:nvSpPr>
          <p:cNvPr id="14" name="Text 12"/>
          <p:cNvSpPr/>
          <p:nvPr/>
        </p:nvSpPr>
        <p:spPr>
          <a:xfrm>
            <a:off x="882253" y="5594866"/>
            <a:ext cx="2476143" cy="306348"/>
          </a:xfrm>
          <a:prstGeom prst="rect">
            <a:avLst/>
          </a:prstGeom>
          <a:noFill/>
          <a:ln/>
        </p:spPr>
        <p:txBody>
          <a:bodyPr wrap="none" lIns="0" tIns="0" rIns="0" bIns="0" rtlCol="0" anchor="t"/>
          <a:lstStyle/>
          <a:p>
            <a:pPr marL="0" indent="0" algn="l">
              <a:lnSpc>
                <a:spcPts val="2400"/>
              </a:lnSpc>
              <a:buNone/>
            </a:pPr>
            <a:r>
              <a:rPr lang="en-US" sz="1900" dirty="0">
                <a:solidFill>
                  <a:srgbClr val="504C49"/>
                </a:solidFill>
                <a:latin typeface="Platypi Medium" pitchFamily="34" charset="0"/>
                <a:ea typeface="Platypi Medium" pitchFamily="34" charset="-122"/>
                <a:cs typeface="Platypi Medium" pitchFamily="34" charset="-120"/>
              </a:rPr>
              <a:t>Time Taken Per Step</a:t>
            </a:r>
            <a:endParaRPr lang="en-US" sz="1900" dirty="0"/>
          </a:p>
        </p:txBody>
      </p:sp>
      <p:sp>
        <p:nvSpPr>
          <p:cNvPr id="15" name="Text 13"/>
          <p:cNvSpPr/>
          <p:nvPr/>
        </p:nvSpPr>
        <p:spPr>
          <a:xfrm>
            <a:off x="882253" y="6018848"/>
            <a:ext cx="6138982" cy="62745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Sessions often show excessive time spent per step, ranging from 25 to 45 seconds, indicating friction in the user flow.</a:t>
            </a:r>
            <a:endParaRPr lang="en-US" sz="1500" dirty="0"/>
          </a:p>
        </p:txBody>
      </p:sp>
      <p:sp>
        <p:nvSpPr>
          <p:cNvPr id="16" name="Shape 14"/>
          <p:cNvSpPr/>
          <p:nvPr/>
        </p:nvSpPr>
        <p:spPr>
          <a:xfrm>
            <a:off x="7413188" y="4810720"/>
            <a:ext cx="6530935" cy="588169"/>
          </a:xfrm>
          <a:prstGeom prst="roundRect">
            <a:avLst>
              <a:gd name="adj" fmla="val 480060"/>
            </a:avLst>
          </a:prstGeom>
          <a:solidFill>
            <a:srgbClr val="F9F7F7"/>
          </a:solidFill>
          <a:ln/>
        </p:spPr>
      </p:sp>
      <p:sp>
        <p:nvSpPr>
          <p:cNvPr id="17" name="Text 15"/>
          <p:cNvSpPr/>
          <p:nvPr/>
        </p:nvSpPr>
        <p:spPr>
          <a:xfrm>
            <a:off x="10531554" y="4920972"/>
            <a:ext cx="294084" cy="367546"/>
          </a:xfrm>
          <a:prstGeom prst="rect">
            <a:avLst/>
          </a:prstGeom>
          <a:noFill/>
          <a:ln/>
        </p:spPr>
        <p:txBody>
          <a:bodyPr wrap="none" lIns="0" tIns="0" rIns="0" bIns="0" rtlCol="0" anchor="t"/>
          <a:lstStyle/>
          <a:p>
            <a:pPr marL="0" indent="0" algn="l">
              <a:lnSpc>
                <a:spcPts val="2300"/>
              </a:lnSpc>
              <a:buNone/>
            </a:pPr>
            <a:r>
              <a:rPr lang="en-US" sz="2300" dirty="0">
                <a:solidFill>
                  <a:srgbClr val="504C49"/>
                </a:solidFill>
                <a:latin typeface="Platypi Medium" pitchFamily="34" charset="0"/>
                <a:ea typeface="Platypi Medium" pitchFamily="34" charset="-122"/>
                <a:cs typeface="Platypi Medium" pitchFamily="34" charset="-120"/>
              </a:rPr>
              <a:t>4</a:t>
            </a:r>
            <a:endParaRPr lang="en-US" sz="2300" dirty="0"/>
          </a:p>
        </p:txBody>
      </p:sp>
      <p:sp>
        <p:nvSpPr>
          <p:cNvPr id="18" name="Text 16"/>
          <p:cNvSpPr/>
          <p:nvPr/>
        </p:nvSpPr>
        <p:spPr>
          <a:xfrm>
            <a:off x="7609165" y="5594866"/>
            <a:ext cx="2797850" cy="306348"/>
          </a:xfrm>
          <a:prstGeom prst="rect">
            <a:avLst/>
          </a:prstGeom>
          <a:noFill/>
          <a:ln/>
        </p:spPr>
        <p:txBody>
          <a:bodyPr wrap="none" lIns="0" tIns="0" rIns="0" bIns="0" rtlCol="0" anchor="t"/>
          <a:lstStyle/>
          <a:p>
            <a:pPr marL="0" indent="0" algn="l">
              <a:lnSpc>
                <a:spcPts val="2400"/>
              </a:lnSpc>
              <a:buNone/>
            </a:pPr>
            <a:r>
              <a:rPr lang="en-US" sz="1900" dirty="0">
                <a:solidFill>
                  <a:srgbClr val="504C49"/>
                </a:solidFill>
                <a:latin typeface="Platypi Medium" pitchFamily="34" charset="0"/>
                <a:ea typeface="Platypi Medium" pitchFamily="34" charset="-122"/>
                <a:cs typeface="Platypi Medium" pitchFamily="34" charset="-120"/>
              </a:rPr>
              <a:t>OCR &amp; Selfie Mismatch</a:t>
            </a:r>
            <a:endParaRPr lang="en-US" sz="1900" dirty="0"/>
          </a:p>
        </p:txBody>
      </p:sp>
      <p:sp>
        <p:nvSpPr>
          <p:cNvPr id="19" name="Text 17"/>
          <p:cNvSpPr/>
          <p:nvPr/>
        </p:nvSpPr>
        <p:spPr>
          <a:xfrm>
            <a:off x="7609165" y="6018848"/>
            <a:ext cx="6138982" cy="62745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A high rate of Optical Character Recognition (OCR) failures and selfie mismatches further complicates the verification process.</a:t>
            </a:r>
            <a:endParaRPr lang="en-US" sz="1500" dirty="0"/>
          </a:p>
        </p:txBody>
      </p:sp>
      <p:sp>
        <p:nvSpPr>
          <p:cNvPr id="20" name="Text 18"/>
          <p:cNvSpPr/>
          <p:nvPr/>
        </p:nvSpPr>
        <p:spPr>
          <a:xfrm>
            <a:off x="686276" y="7062788"/>
            <a:ext cx="13257848" cy="627459"/>
          </a:xfrm>
          <a:prstGeom prst="rect">
            <a:avLst/>
          </a:prstGeom>
          <a:noFill/>
          <a:ln/>
        </p:spPr>
        <p:txBody>
          <a:bodyPr wrap="square" lIns="0" tIns="0" rIns="0" bIns="0" rtlCol="0" anchor="t"/>
          <a:lstStyle/>
          <a:p>
            <a:pPr marL="0" indent="0" algn="l">
              <a:lnSpc>
                <a:spcPts val="2450"/>
              </a:lnSpc>
              <a:buNone/>
            </a:pPr>
            <a:r>
              <a:rPr lang="en-US" sz="1500" dirty="0">
                <a:solidFill>
                  <a:srgbClr val="504C49"/>
                </a:solidFill>
                <a:latin typeface="Source Serif 4" pitchFamily="34" charset="0"/>
                <a:ea typeface="Source Serif 4" pitchFamily="34" charset="-122"/>
                <a:cs typeface="Source Serif 4" pitchFamily="34" charset="-120"/>
              </a:rPr>
              <a:t>These insights underscore the need for more robust error handling, clearer guidance, and a more forgiving retry mechanism to prevent user abandonment.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0803" y="626983"/>
            <a:ext cx="9223058" cy="507802"/>
          </a:xfrm>
          <a:prstGeom prst="rect">
            <a:avLst/>
          </a:prstGeom>
          <a:noFill/>
          <a:ln/>
        </p:spPr>
        <p:txBody>
          <a:bodyPr wrap="none" lIns="0" tIns="0" rIns="0" bIns="0" rtlCol="0" anchor="t"/>
          <a:lstStyle/>
          <a:p>
            <a:pPr marL="0" indent="0" algn="l">
              <a:lnSpc>
                <a:spcPts val="3950"/>
              </a:lnSpc>
              <a:buNone/>
            </a:pPr>
            <a:r>
              <a:rPr lang="en-US" sz="3150" dirty="0">
                <a:solidFill>
                  <a:srgbClr val="201B18"/>
                </a:solidFill>
                <a:latin typeface="Platypi Medium" pitchFamily="34" charset="0"/>
                <a:ea typeface="Platypi Medium" pitchFamily="34" charset="-122"/>
                <a:cs typeface="Platypi Medium" pitchFamily="34" charset="-120"/>
              </a:rPr>
              <a:t>Root Cause Analysis: Unpacking the Obstacles</a:t>
            </a:r>
            <a:endParaRPr lang="en-US" sz="3150" dirty="0"/>
          </a:p>
        </p:txBody>
      </p:sp>
      <p:sp>
        <p:nvSpPr>
          <p:cNvPr id="3" name="Text 1"/>
          <p:cNvSpPr/>
          <p:nvPr/>
        </p:nvSpPr>
        <p:spPr>
          <a:xfrm>
            <a:off x="710803" y="1540907"/>
            <a:ext cx="13208794" cy="649843"/>
          </a:xfrm>
          <a:prstGeom prst="rect">
            <a:avLst/>
          </a:prstGeom>
          <a:noFill/>
          <a:ln/>
        </p:spPr>
        <p:txBody>
          <a:bodyPr wrap="square" lIns="0" tIns="0" rIns="0" bIns="0" rtlCol="0" anchor="t"/>
          <a:lstStyle/>
          <a:p>
            <a:pPr marL="0" indent="0" algn="l">
              <a:lnSpc>
                <a:spcPts val="2550"/>
              </a:lnSpc>
              <a:buNone/>
            </a:pPr>
            <a:r>
              <a:rPr lang="en-US" sz="1550" dirty="0">
                <a:solidFill>
                  <a:srgbClr val="504C49"/>
                </a:solidFill>
                <a:latin typeface="Source Serif 4" pitchFamily="34" charset="0"/>
                <a:ea typeface="Source Serif 4" pitchFamily="34" charset="-122"/>
                <a:cs typeface="Source Serif 4" pitchFamily="34" charset="-120"/>
              </a:rPr>
              <a:t>A comprehensive root cause analysis reveals four primary categories contributing to the high digital KYC drop-off rates, encompassing UX, technical, device/network, and process/policy issues.</a:t>
            </a:r>
            <a:endParaRPr lang="en-US" sz="15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7003" y="2654022"/>
            <a:ext cx="304562" cy="304562"/>
          </a:xfrm>
          <a:prstGeom prst="rect">
            <a:avLst/>
          </a:prstGeom>
        </p:spPr>
      </p:pic>
      <p:sp>
        <p:nvSpPr>
          <p:cNvPr id="5" name="Text 2"/>
          <p:cNvSpPr/>
          <p:nvPr/>
        </p:nvSpPr>
        <p:spPr>
          <a:xfrm>
            <a:off x="1370767" y="2647712"/>
            <a:ext cx="2538651" cy="317302"/>
          </a:xfrm>
          <a:prstGeom prst="rect">
            <a:avLst/>
          </a:prstGeom>
          <a:noFill/>
          <a:ln/>
        </p:spPr>
        <p:txBody>
          <a:bodyPr wrap="none" lIns="0" tIns="0" rIns="0" bIns="0" rtlCol="0" anchor="t"/>
          <a:lstStyle/>
          <a:p>
            <a:pPr marL="0" indent="0" algn="l">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UX Problems</a:t>
            </a:r>
            <a:endParaRPr lang="en-US" sz="1950" dirty="0"/>
          </a:p>
        </p:txBody>
      </p:sp>
      <p:sp>
        <p:nvSpPr>
          <p:cNvPr id="6" name="Text 3"/>
          <p:cNvSpPr/>
          <p:nvPr/>
        </p:nvSpPr>
        <p:spPr>
          <a:xfrm>
            <a:off x="1370767" y="3168015"/>
            <a:ext cx="5696664" cy="649843"/>
          </a:xfrm>
          <a:prstGeom prst="rect">
            <a:avLst/>
          </a:prstGeom>
          <a:noFill/>
          <a:ln/>
        </p:spPr>
        <p:txBody>
          <a:bodyPr wrap="squar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Lack of guidance for document handling (glare, angle, brightness)</a:t>
            </a:r>
            <a:endParaRPr lang="en-US" sz="1550" dirty="0"/>
          </a:p>
        </p:txBody>
      </p:sp>
      <p:sp>
        <p:nvSpPr>
          <p:cNvPr id="7" name="Text 4"/>
          <p:cNvSpPr/>
          <p:nvPr/>
        </p:nvSpPr>
        <p:spPr>
          <a:xfrm>
            <a:off x="1370767" y="3888938"/>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Confusing dropdown menu for document selection</a:t>
            </a:r>
            <a:endParaRPr lang="en-US" sz="1550" dirty="0"/>
          </a:p>
        </p:txBody>
      </p:sp>
      <p:sp>
        <p:nvSpPr>
          <p:cNvPr id="8" name="Text 5"/>
          <p:cNvSpPr/>
          <p:nvPr/>
        </p:nvSpPr>
        <p:spPr>
          <a:xfrm>
            <a:off x="1370767" y="4284940"/>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Absence of multilingual assistance</a:t>
            </a:r>
            <a:endParaRPr lang="en-US" sz="155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7003" y="5022294"/>
            <a:ext cx="304562" cy="304562"/>
          </a:xfrm>
          <a:prstGeom prst="rect">
            <a:avLst/>
          </a:prstGeom>
        </p:spPr>
      </p:pic>
      <p:sp>
        <p:nvSpPr>
          <p:cNvPr id="10" name="Text 6"/>
          <p:cNvSpPr/>
          <p:nvPr/>
        </p:nvSpPr>
        <p:spPr>
          <a:xfrm>
            <a:off x="1370767" y="5015984"/>
            <a:ext cx="2538651" cy="317302"/>
          </a:xfrm>
          <a:prstGeom prst="rect">
            <a:avLst/>
          </a:prstGeom>
          <a:noFill/>
          <a:ln/>
        </p:spPr>
        <p:txBody>
          <a:bodyPr wrap="none" lIns="0" tIns="0" rIns="0" bIns="0" rtlCol="0" anchor="t"/>
          <a:lstStyle/>
          <a:p>
            <a:pPr marL="0" indent="0" algn="l">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Technical Issues</a:t>
            </a:r>
            <a:endParaRPr lang="en-US" sz="1950" dirty="0"/>
          </a:p>
        </p:txBody>
      </p:sp>
      <p:sp>
        <p:nvSpPr>
          <p:cNvPr id="11" name="Text 7"/>
          <p:cNvSpPr/>
          <p:nvPr/>
        </p:nvSpPr>
        <p:spPr>
          <a:xfrm>
            <a:off x="1370767" y="5536287"/>
            <a:ext cx="5696664" cy="649843"/>
          </a:xfrm>
          <a:prstGeom prst="rect">
            <a:avLst/>
          </a:prstGeom>
          <a:noFill/>
          <a:ln/>
        </p:spPr>
        <p:txBody>
          <a:bodyPr wrap="squar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Slow sequential processing increases Turnaround Time (TAT)</a:t>
            </a:r>
            <a:endParaRPr lang="en-US" sz="1550" dirty="0"/>
          </a:p>
        </p:txBody>
      </p:sp>
      <p:sp>
        <p:nvSpPr>
          <p:cNvPr id="12" name="Text 8"/>
          <p:cNvSpPr/>
          <p:nvPr/>
        </p:nvSpPr>
        <p:spPr>
          <a:xfrm>
            <a:off x="1370767" y="6257211"/>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Large image file uploads hinder performance</a:t>
            </a:r>
            <a:endParaRPr lang="en-US" sz="1550" dirty="0"/>
          </a:p>
        </p:txBody>
      </p:sp>
      <p:sp>
        <p:nvSpPr>
          <p:cNvPr id="13" name="Text 9"/>
          <p:cNvSpPr/>
          <p:nvPr/>
        </p:nvSpPr>
        <p:spPr>
          <a:xfrm>
            <a:off x="1370767" y="6653213"/>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OCR engine struggles with low-quality images</a:t>
            </a:r>
            <a:endParaRPr lang="en-US" sz="1550" dirty="0"/>
          </a:p>
        </p:txBody>
      </p:sp>
      <p:sp>
        <p:nvSpPr>
          <p:cNvPr id="14" name="Text 10"/>
          <p:cNvSpPr/>
          <p:nvPr/>
        </p:nvSpPr>
        <p:spPr>
          <a:xfrm>
            <a:off x="1370767" y="7049214"/>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No autosave functionality, forcing full journey restarts</a:t>
            </a:r>
            <a:endParaRPr lang="en-US" sz="1550" dirty="0"/>
          </a:p>
        </p:txBody>
      </p:sp>
      <p:pic>
        <p:nvPicPr>
          <p:cNvPr id="1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6789" y="2654022"/>
            <a:ext cx="304562" cy="304562"/>
          </a:xfrm>
          <a:prstGeom prst="rect">
            <a:avLst/>
          </a:prstGeom>
        </p:spPr>
      </p:pic>
      <p:sp>
        <p:nvSpPr>
          <p:cNvPr id="16" name="Text 11"/>
          <p:cNvSpPr/>
          <p:nvPr/>
        </p:nvSpPr>
        <p:spPr>
          <a:xfrm>
            <a:off x="8230552" y="2647712"/>
            <a:ext cx="2538651" cy="317302"/>
          </a:xfrm>
          <a:prstGeom prst="rect">
            <a:avLst/>
          </a:prstGeom>
          <a:noFill/>
          <a:ln/>
        </p:spPr>
        <p:txBody>
          <a:bodyPr wrap="none" lIns="0" tIns="0" rIns="0" bIns="0" rtlCol="0" anchor="t"/>
          <a:lstStyle/>
          <a:p>
            <a:pPr marL="0" indent="0" algn="l">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Device &amp; Network</a:t>
            </a:r>
            <a:endParaRPr lang="en-US" sz="1950" dirty="0"/>
          </a:p>
        </p:txBody>
      </p:sp>
      <p:sp>
        <p:nvSpPr>
          <p:cNvPr id="17" name="Text 12"/>
          <p:cNvSpPr/>
          <p:nvPr/>
        </p:nvSpPr>
        <p:spPr>
          <a:xfrm>
            <a:off x="8230552" y="3168015"/>
            <a:ext cx="5696664" cy="649843"/>
          </a:xfrm>
          <a:prstGeom prst="rect">
            <a:avLst/>
          </a:prstGeom>
          <a:noFill/>
          <a:ln/>
        </p:spPr>
        <p:txBody>
          <a:bodyPr wrap="squar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Low-end smartphones face challenges with image processing</a:t>
            </a:r>
            <a:endParaRPr lang="en-US" sz="1550" dirty="0"/>
          </a:p>
        </p:txBody>
      </p:sp>
      <p:sp>
        <p:nvSpPr>
          <p:cNvPr id="18" name="Text 13"/>
          <p:cNvSpPr/>
          <p:nvPr/>
        </p:nvSpPr>
        <p:spPr>
          <a:xfrm>
            <a:off x="8230552" y="3888938"/>
            <a:ext cx="5696664" cy="649843"/>
          </a:xfrm>
          <a:prstGeom prst="rect">
            <a:avLst/>
          </a:prstGeom>
          <a:noFill/>
          <a:ln/>
        </p:spPr>
        <p:txBody>
          <a:bodyPr wrap="squar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Slow or unstable network connections (2G/weak mobile data) lead to upload failures</a:t>
            </a:r>
            <a:endParaRPr lang="en-US" sz="1550" dirty="0"/>
          </a:p>
        </p:txBody>
      </p:sp>
      <p:pic>
        <p:nvPicPr>
          <p:cNvPr id="19"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6789" y="4951214"/>
            <a:ext cx="304562" cy="304562"/>
          </a:xfrm>
          <a:prstGeom prst="rect">
            <a:avLst/>
          </a:prstGeom>
        </p:spPr>
      </p:pic>
      <p:sp>
        <p:nvSpPr>
          <p:cNvPr id="20" name="Text 14"/>
          <p:cNvSpPr/>
          <p:nvPr/>
        </p:nvSpPr>
        <p:spPr>
          <a:xfrm>
            <a:off x="8230552" y="4944904"/>
            <a:ext cx="2538651" cy="317302"/>
          </a:xfrm>
          <a:prstGeom prst="rect">
            <a:avLst/>
          </a:prstGeom>
          <a:noFill/>
          <a:ln/>
        </p:spPr>
        <p:txBody>
          <a:bodyPr wrap="none" lIns="0" tIns="0" rIns="0" bIns="0" rtlCol="0" anchor="t"/>
          <a:lstStyle/>
          <a:p>
            <a:pPr marL="0" indent="0" algn="l">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Process &amp; Policy</a:t>
            </a:r>
            <a:endParaRPr lang="en-US" sz="1950" dirty="0"/>
          </a:p>
        </p:txBody>
      </p:sp>
      <p:sp>
        <p:nvSpPr>
          <p:cNvPr id="21" name="Text 15"/>
          <p:cNvSpPr/>
          <p:nvPr/>
        </p:nvSpPr>
        <p:spPr>
          <a:xfrm>
            <a:off x="8230552" y="5465207"/>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Strict hard lockouts after a limited number of attempts</a:t>
            </a:r>
            <a:endParaRPr lang="en-US" sz="1550" dirty="0"/>
          </a:p>
        </p:txBody>
      </p:sp>
      <p:sp>
        <p:nvSpPr>
          <p:cNvPr id="22" name="Text 16"/>
          <p:cNvSpPr/>
          <p:nvPr/>
        </p:nvSpPr>
        <p:spPr>
          <a:xfrm>
            <a:off x="8230552" y="5861209"/>
            <a:ext cx="5696664" cy="649843"/>
          </a:xfrm>
          <a:prstGeom prst="rect">
            <a:avLst/>
          </a:prstGeom>
          <a:noFill/>
          <a:ln/>
        </p:spPr>
        <p:txBody>
          <a:bodyPr wrap="squar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Duplicate KYC checks are performed too late in the process</a:t>
            </a:r>
            <a:endParaRPr lang="en-US" sz="1550" dirty="0"/>
          </a:p>
        </p:txBody>
      </p:sp>
      <p:sp>
        <p:nvSpPr>
          <p:cNvPr id="23" name="Text 17"/>
          <p:cNvSpPr/>
          <p:nvPr/>
        </p:nvSpPr>
        <p:spPr>
          <a:xfrm>
            <a:off x="8230552" y="6582132"/>
            <a:ext cx="5696664" cy="324922"/>
          </a:xfrm>
          <a:prstGeom prst="rect">
            <a:avLst/>
          </a:prstGeom>
          <a:noFill/>
          <a:ln/>
        </p:spPr>
        <p:txBody>
          <a:bodyPr wrap="none" lIns="0" tIns="0" rIns="0" bIns="0" rtlCol="0" anchor="t"/>
          <a:lstStyle/>
          <a:p>
            <a:pPr marL="342900" indent="-342900" algn="l">
              <a:lnSpc>
                <a:spcPts val="2550"/>
              </a:lnSpc>
              <a:buSzPct val="100000"/>
              <a:buChar char="•"/>
            </a:pPr>
            <a:r>
              <a:rPr lang="en-US" sz="1550" dirty="0">
                <a:solidFill>
                  <a:srgbClr val="504C49"/>
                </a:solidFill>
                <a:latin typeface="Source Serif 4" pitchFamily="34" charset="0"/>
                <a:ea typeface="Source Serif 4" pitchFamily="34" charset="-122"/>
                <a:cs typeface="Source Serif 4" pitchFamily="34" charset="-120"/>
              </a:rPr>
              <a:t>Unclear and unhelpful error messaging</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7567" y="422434"/>
            <a:ext cx="7778829" cy="383977"/>
          </a:xfrm>
          <a:prstGeom prst="rect">
            <a:avLst/>
          </a:prstGeom>
          <a:noFill/>
          <a:ln/>
        </p:spPr>
        <p:txBody>
          <a:bodyPr wrap="none" lIns="0" tIns="0" rIns="0" bIns="0" rtlCol="0" anchor="t"/>
          <a:lstStyle/>
          <a:p>
            <a:pPr marL="0" indent="0" algn="l">
              <a:lnSpc>
                <a:spcPts val="3000"/>
              </a:lnSpc>
              <a:buNone/>
            </a:pPr>
            <a:r>
              <a:rPr lang="en-US" sz="2400" dirty="0">
                <a:solidFill>
                  <a:srgbClr val="201B18"/>
                </a:solidFill>
                <a:latin typeface="Platypi Medium" pitchFamily="34" charset="0"/>
                <a:ea typeface="Platypi Medium" pitchFamily="34" charset="-122"/>
                <a:cs typeface="Platypi Medium" pitchFamily="34" charset="-120"/>
              </a:rPr>
              <a:t>Proposed UX Redesign: A Seamless User Experience</a:t>
            </a:r>
            <a:endParaRPr lang="en-US" sz="2400" dirty="0"/>
          </a:p>
        </p:txBody>
      </p:sp>
      <p:sp>
        <p:nvSpPr>
          <p:cNvPr id="3" name="Text 1"/>
          <p:cNvSpPr/>
          <p:nvPr/>
        </p:nvSpPr>
        <p:spPr>
          <a:xfrm>
            <a:off x="537567" y="1113592"/>
            <a:ext cx="13555266" cy="245745"/>
          </a:xfrm>
          <a:prstGeom prst="rect">
            <a:avLst/>
          </a:prstGeom>
          <a:noFill/>
          <a:ln/>
        </p:spPr>
        <p:txBody>
          <a:bodyPr wrap="non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Our redesigned KYC journey focuses on creating an intuitive, user-friendly interface that addresses the identified UX challenges and simplifies the onboarding process.</a:t>
            </a:r>
            <a:endParaRPr lang="en-US" sz="1200" dirty="0"/>
          </a:p>
        </p:txBody>
      </p:sp>
      <p:pic>
        <p:nvPicPr>
          <p:cNvPr id="4" name="Image 0" descr="preencoded.png"/>
          <p:cNvPicPr>
            <a:picLocks noChangeAspect="1"/>
          </p:cNvPicPr>
          <p:nvPr/>
        </p:nvPicPr>
        <p:blipFill>
          <a:blip r:embed="rId3"/>
          <a:stretch>
            <a:fillRect/>
          </a:stretch>
        </p:blipFill>
        <p:spPr>
          <a:xfrm>
            <a:off x="537567" y="1704856"/>
            <a:ext cx="6590228" cy="6590228"/>
          </a:xfrm>
          <a:prstGeom prst="rect">
            <a:avLst/>
          </a:prstGeom>
        </p:spPr>
      </p:pic>
      <p:sp>
        <p:nvSpPr>
          <p:cNvPr id="5" name="Shape 2"/>
          <p:cNvSpPr/>
          <p:nvPr/>
        </p:nvSpPr>
        <p:spPr>
          <a:xfrm>
            <a:off x="7510224" y="1786354"/>
            <a:ext cx="76795" cy="76795"/>
          </a:xfrm>
          <a:prstGeom prst="roundRect">
            <a:avLst>
              <a:gd name="adj" fmla="val 595351"/>
            </a:avLst>
          </a:prstGeom>
          <a:solidFill>
            <a:srgbClr val="3E2513"/>
          </a:solidFill>
          <a:ln/>
        </p:spPr>
      </p:sp>
      <p:sp>
        <p:nvSpPr>
          <p:cNvPr id="6" name="Text 3"/>
          <p:cNvSpPr/>
          <p:nvPr/>
        </p:nvSpPr>
        <p:spPr>
          <a:xfrm>
            <a:off x="7740610" y="1704856"/>
            <a:ext cx="3268266" cy="240030"/>
          </a:xfrm>
          <a:prstGeom prst="rect">
            <a:avLst/>
          </a:prstGeom>
          <a:noFill/>
          <a:ln/>
        </p:spPr>
        <p:txBody>
          <a:bodyPr wrap="none" lIns="0" tIns="0" rIns="0" bIns="0" rtlCol="0" anchor="t"/>
          <a:lstStyle/>
          <a:p>
            <a:pPr marL="0" indent="0" algn="l">
              <a:lnSpc>
                <a:spcPts val="1850"/>
              </a:lnSpc>
              <a:buNone/>
            </a:pPr>
            <a:r>
              <a:rPr lang="en-US" sz="1500" dirty="0">
                <a:solidFill>
                  <a:srgbClr val="504C49"/>
                </a:solidFill>
                <a:latin typeface="Platypi Medium" pitchFamily="34" charset="0"/>
                <a:ea typeface="Platypi Medium" pitchFamily="34" charset="-122"/>
                <a:cs typeface="Platypi Medium" pitchFamily="34" charset="-120"/>
              </a:rPr>
              <a:t>Card-based Document Selection UI</a:t>
            </a:r>
            <a:endParaRPr lang="en-US" sz="1500" dirty="0"/>
          </a:p>
        </p:txBody>
      </p:sp>
      <p:sp>
        <p:nvSpPr>
          <p:cNvPr id="7" name="Text 4"/>
          <p:cNvSpPr/>
          <p:nvPr/>
        </p:nvSpPr>
        <p:spPr>
          <a:xfrm>
            <a:off x="7740610" y="2098477"/>
            <a:ext cx="6359843" cy="245745"/>
          </a:xfrm>
          <a:prstGeom prst="rect">
            <a:avLst/>
          </a:prstGeom>
          <a:noFill/>
          <a:ln/>
        </p:spPr>
        <p:txBody>
          <a:bodyPr wrap="non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Simplifies the choice of document types, reducing user confusion.</a:t>
            </a:r>
            <a:endParaRPr lang="en-US" sz="1200" dirty="0"/>
          </a:p>
        </p:txBody>
      </p:sp>
      <p:sp>
        <p:nvSpPr>
          <p:cNvPr id="8" name="Shape 5"/>
          <p:cNvSpPr/>
          <p:nvPr/>
        </p:nvSpPr>
        <p:spPr>
          <a:xfrm>
            <a:off x="7510224" y="2732901"/>
            <a:ext cx="76795" cy="76795"/>
          </a:xfrm>
          <a:prstGeom prst="roundRect">
            <a:avLst>
              <a:gd name="adj" fmla="val 595351"/>
            </a:avLst>
          </a:prstGeom>
          <a:solidFill>
            <a:srgbClr val="3E2513"/>
          </a:solidFill>
          <a:ln/>
        </p:spPr>
      </p:sp>
      <p:sp>
        <p:nvSpPr>
          <p:cNvPr id="9" name="Text 6"/>
          <p:cNvSpPr/>
          <p:nvPr/>
        </p:nvSpPr>
        <p:spPr>
          <a:xfrm>
            <a:off x="7740610" y="2651403"/>
            <a:ext cx="2479238" cy="240030"/>
          </a:xfrm>
          <a:prstGeom prst="rect">
            <a:avLst/>
          </a:prstGeom>
          <a:noFill/>
          <a:ln/>
        </p:spPr>
        <p:txBody>
          <a:bodyPr wrap="none" lIns="0" tIns="0" rIns="0" bIns="0" rtlCol="0" anchor="t"/>
          <a:lstStyle/>
          <a:p>
            <a:pPr marL="0" indent="0" algn="l">
              <a:lnSpc>
                <a:spcPts val="1850"/>
              </a:lnSpc>
              <a:buNone/>
            </a:pPr>
            <a:r>
              <a:rPr lang="en-US" sz="1500" dirty="0">
                <a:solidFill>
                  <a:srgbClr val="504C49"/>
                </a:solidFill>
                <a:latin typeface="Platypi Medium" pitchFamily="34" charset="0"/>
                <a:ea typeface="Platypi Medium" pitchFamily="34" charset="-122"/>
                <a:cs typeface="Platypi Medium" pitchFamily="34" charset="-120"/>
              </a:rPr>
              <a:t>Smart Camera Integration</a:t>
            </a:r>
            <a:endParaRPr lang="en-US" sz="1500" dirty="0"/>
          </a:p>
        </p:txBody>
      </p:sp>
      <p:sp>
        <p:nvSpPr>
          <p:cNvPr id="10" name="Text 7"/>
          <p:cNvSpPr/>
          <p:nvPr/>
        </p:nvSpPr>
        <p:spPr>
          <a:xfrm>
            <a:off x="7740610" y="3045023"/>
            <a:ext cx="6359843" cy="491490"/>
          </a:xfrm>
          <a:prstGeom prst="rect">
            <a:avLst/>
          </a:prstGeom>
          <a:noFill/>
          <a:ln/>
        </p:spPr>
        <p:txBody>
          <a:bodyPr wrap="squar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Features auto-edge detection, auto-capture, and on-device compression for optimal image quality.</a:t>
            </a:r>
            <a:endParaRPr lang="en-US" sz="1200" dirty="0"/>
          </a:p>
        </p:txBody>
      </p:sp>
      <p:sp>
        <p:nvSpPr>
          <p:cNvPr id="11" name="Shape 8"/>
          <p:cNvSpPr/>
          <p:nvPr/>
        </p:nvSpPr>
        <p:spPr>
          <a:xfrm>
            <a:off x="7510224" y="3925193"/>
            <a:ext cx="76795" cy="76795"/>
          </a:xfrm>
          <a:prstGeom prst="roundRect">
            <a:avLst>
              <a:gd name="adj" fmla="val 595351"/>
            </a:avLst>
          </a:prstGeom>
          <a:solidFill>
            <a:srgbClr val="3E2513"/>
          </a:solidFill>
          <a:ln/>
        </p:spPr>
      </p:sp>
      <p:sp>
        <p:nvSpPr>
          <p:cNvPr id="12" name="Text 9"/>
          <p:cNvSpPr/>
          <p:nvPr/>
        </p:nvSpPr>
        <p:spPr>
          <a:xfrm>
            <a:off x="7740610" y="3843695"/>
            <a:ext cx="1968818" cy="240030"/>
          </a:xfrm>
          <a:prstGeom prst="rect">
            <a:avLst/>
          </a:prstGeom>
          <a:noFill/>
          <a:ln/>
        </p:spPr>
        <p:txBody>
          <a:bodyPr wrap="none" lIns="0" tIns="0" rIns="0" bIns="0" rtlCol="0" anchor="t"/>
          <a:lstStyle/>
          <a:p>
            <a:pPr marL="0" indent="0" algn="l">
              <a:lnSpc>
                <a:spcPts val="1850"/>
              </a:lnSpc>
              <a:buNone/>
            </a:pPr>
            <a:r>
              <a:rPr lang="en-US" sz="1500" dirty="0">
                <a:solidFill>
                  <a:srgbClr val="504C49"/>
                </a:solidFill>
                <a:latin typeface="Platypi Medium" pitchFamily="34" charset="0"/>
                <a:ea typeface="Platypi Medium" pitchFamily="34" charset="-122"/>
                <a:cs typeface="Platypi Medium" pitchFamily="34" charset="-120"/>
              </a:rPr>
              <a:t>Multilingual Support</a:t>
            </a:r>
            <a:endParaRPr lang="en-US" sz="1500" dirty="0"/>
          </a:p>
        </p:txBody>
      </p:sp>
      <p:sp>
        <p:nvSpPr>
          <p:cNvPr id="13" name="Text 10"/>
          <p:cNvSpPr/>
          <p:nvPr/>
        </p:nvSpPr>
        <p:spPr>
          <a:xfrm>
            <a:off x="7740610" y="4237315"/>
            <a:ext cx="6359843" cy="491490"/>
          </a:xfrm>
          <a:prstGeom prst="rect">
            <a:avLst/>
          </a:prstGeom>
          <a:noFill/>
          <a:ln/>
        </p:spPr>
        <p:txBody>
          <a:bodyPr wrap="squar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Offering guidance in English, Hindi, Assamese, Bengali, and Marathi for broader accessibility.</a:t>
            </a:r>
            <a:endParaRPr lang="en-US" sz="1200" dirty="0"/>
          </a:p>
        </p:txBody>
      </p:sp>
      <p:sp>
        <p:nvSpPr>
          <p:cNvPr id="14" name="Shape 11"/>
          <p:cNvSpPr/>
          <p:nvPr/>
        </p:nvSpPr>
        <p:spPr>
          <a:xfrm>
            <a:off x="7510224" y="5117485"/>
            <a:ext cx="76795" cy="76795"/>
          </a:xfrm>
          <a:prstGeom prst="roundRect">
            <a:avLst>
              <a:gd name="adj" fmla="val 595351"/>
            </a:avLst>
          </a:prstGeom>
          <a:solidFill>
            <a:srgbClr val="3E2513"/>
          </a:solidFill>
          <a:ln/>
        </p:spPr>
      </p:sp>
      <p:sp>
        <p:nvSpPr>
          <p:cNvPr id="15" name="Text 12"/>
          <p:cNvSpPr/>
          <p:nvPr/>
        </p:nvSpPr>
        <p:spPr>
          <a:xfrm>
            <a:off x="7740610" y="5035987"/>
            <a:ext cx="3764518" cy="240030"/>
          </a:xfrm>
          <a:prstGeom prst="rect">
            <a:avLst/>
          </a:prstGeom>
          <a:noFill/>
          <a:ln/>
        </p:spPr>
        <p:txBody>
          <a:bodyPr wrap="none" lIns="0" tIns="0" rIns="0" bIns="0" rtlCol="0" anchor="t"/>
          <a:lstStyle/>
          <a:p>
            <a:pPr marL="0" indent="0" algn="l">
              <a:lnSpc>
                <a:spcPts val="1850"/>
              </a:lnSpc>
              <a:buNone/>
            </a:pPr>
            <a:r>
              <a:rPr lang="en-US" sz="1500" dirty="0">
                <a:solidFill>
                  <a:srgbClr val="504C49"/>
                </a:solidFill>
                <a:latin typeface="Platypi Medium" pitchFamily="34" charset="0"/>
                <a:ea typeface="Platypi Medium" pitchFamily="34" charset="-122"/>
                <a:cs typeface="Platypi Medium" pitchFamily="34" charset="-120"/>
              </a:rPr>
              <a:t>Clear, Situation-Specific Error Messages</a:t>
            </a:r>
            <a:endParaRPr lang="en-US" sz="1500" dirty="0"/>
          </a:p>
        </p:txBody>
      </p:sp>
      <p:sp>
        <p:nvSpPr>
          <p:cNvPr id="16" name="Text 13"/>
          <p:cNvSpPr/>
          <p:nvPr/>
        </p:nvSpPr>
        <p:spPr>
          <a:xfrm>
            <a:off x="7740610" y="5429607"/>
            <a:ext cx="6359843" cy="245745"/>
          </a:xfrm>
          <a:prstGeom prst="rect">
            <a:avLst/>
          </a:prstGeom>
          <a:noFill/>
          <a:ln/>
        </p:spPr>
        <p:txBody>
          <a:bodyPr wrap="non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Provides actionable feedback to users, guiding them through corrections.</a:t>
            </a:r>
            <a:endParaRPr lang="en-US" sz="1200" dirty="0"/>
          </a:p>
        </p:txBody>
      </p:sp>
      <p:sp>
        <p:nvSpPr>
          <p:cNvPr id="17" name="Shape 14"/>
          <p:cNvSpPr/>
          <p:nvPr/>
        </p:nvSpPr>
        <p:spPr>
          <a:xfrm>
            <a:off x="7510224" y="6064032"/>
            <a:ext cx="76795" cy="76795"/>
          </a:xfrm>
          <a:prstGeom prst="roundRect">
            <a:avLst>
              <a:gd name="adj" fmla="val 595351"/>
            </a:avLst>
          </a:prstGeom>
          <a:solidFill>
            <a:srgbClr val="3E2513"/>
          </a:solidFill>
          <a:ln/>
        </p:spPr>
      </p:sp>
      <p:sp>
        <p:nvSpPr>
          <p:cNvPr id="18" name="Text 15"/>
          <p:cNvSpPr/>
          <p:nvPr/>
        </p:nvSpPr>
        <p:spPr>
          <a:xfrm>
            <a:off x="7740610" y="5982533"/>
            <a:ext cx="1920121" cy="240030"/>
          </a:xfrm>
          <a:prstGeom prst="rect">
            <a:avLst/>
          </a:prstGeom>
          <a:noFill/>
          <a:ln/>
        </p:spPr>
        <p:txBody>
          <a:bodyPr wrap="none" lIns="0" tIns="0" rIns="0" bIns="0" rtlCol="0" anchor="t"/>
          <a:lstStyle/>
          <a:p>
            <a:pPr marL="0" indent="0" algn="l">
              <a:lnSpc>
                <a:spcPts val="1850"/>
              </a:lnSpc>
              <a:buNone/>
            </a:pPr>
            <a:r>
              <a:rPr lang="en-US" sz="1500" dirty="0">
                <a:solidFill>
                  <a:srgbClr val="504C49"/>
                </a:solidFill>
                <a:latin typeface="Platypi Medium" pitchFamily="34" charset="0"/>
                <a:ea typeface="Platypi Medium" pitchFamily="34" charset="-122"/>
                <a:cs typeface="Platypi Medium" pitchFamily="34" charset="-120"/>
              </a:rPr>
              <a:t>Auto-fill Using OCR</a:t>
            </a:r>
            <a:endParaRPr lang="en-US" sz="1500" dirty="0"/>
          </a:p>
        </p:txBody>
      </p:sp>
      <p:sp>
        <p:nvSpPr>
          <p:cNvPr id="19" name="Text 16"/>
          <p:cNvSpPr/>
          <p:nvPr/>
        </p:nvSpPr>
        <p:spPr>
          <a:xfrm>
            <a:off x="7740610" y="6376154"/>
            <a:ext cx="6359843" cy="491490"/>
          </a:xfrm>
          <a:prstGeom prst="rect">
            <a:avLst/>
          </a:prstGeom>
          <a:noFill/>
          <a:ln/>
        </p:spPr>
        <p:txBody>
          <a:bodyPr wrap="square" lIns="0" tIns="0" rIns="0" bIns="0" rtlCol="0" anchor="t"/>
          <a:lstStyle/>
          <a:p>
            <a:pPr marL="0" indent="0" algn="l">
              <a:lnSpc>
                <a:spcPts val="1900"/>
              </a:lnSpc>
              <a:buNone/>
            </a:pPr>
            <a:r>
              <a:rPr lang="en-US" sz="1200" dirty="0">
                <a:solidFill>
                  <a:srgbClr val="504C49"/>
                </a:solidFill>
                <a:latin typeface="Source Serif 4" pitchFamily="34" charset="0"/>
                <a:ea typeface="Source Serif 4" pitchFamily="34" charset="-122"/>
                <a:cs typeface="Source Serif 4" pitchFamily="34" charset="-120"/>
              </a:rPr>
              <a:t>Automatically populates fields from scanned documents, saving time and reducing manual entry errors.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417558"/>
          </a:xfrm>
          <a:prstGeom prst="rect">
            <a:avLst/>
          </a:prstGeom>
        </p:spPr>
      </p:pic>
      <p:sp>
        <p:nvSpPr>
          <p:cNvPr id="3" name="Text 0"/>
          <p:cNvSpPr/>
          <p:nvPr/>
        </p:nvSpPr>
        <p:spPr>
          <a:xfrm>
            <a:off x="396835" y="1729383"/>
            <a:ext cx="7662386" cy="283488"/>
          </a:xfrm>
          <a:prstGeom prst="rect">
            <a:avLst/>
          </a:prstGeom>
          <a:noFill/>
          <a:ln/>
        </p:spPr>
        <p:txBody>
          <a:bodyPr wrap="none" lIns="0" tIns="0" rIns="0" bIns="0" rtlCol="0" anchor="t"/>
          <a:lstStyle/>
          <a:p>
            <a:pPr marL="0" indent="0" algn="l">
              <a:lnSpc>
                <a:spcPts val="2200"/>
              </a:lnSpc>
              <a:buNone/>
            </a:pPr>
            <a:r>
              <a:rPr lang="en-US" sz="1750" dirty="0">
                <a:solidFill>
                  <a:srgbClr val="201B18"/>
                </a:solidFill>
                <a:latin typeface="Platypi Medium" pitchFamily="34" charset="0"/>
                <a:ea typeface="Platypi Medium" pitchFamily="34" charset="-122"/>
                <a:cs typeface="Platypi Medium" pitchFamily="34" charset="-120"/>
              </a:rPr>
              <a:t>Technical Architecture Improvements: Enhancing Backend Efficiency</a:t>
            </a:r>
            <a:endParaRPr lang="en-US" sz="1750" dirty="0"/>
          </a:p>
        </p:txBody>
      </p:sp>
      <p:sp>
        <p:nvSpPr>
          <p:cNvPr id="4" name="Text 1"/>
          <p:cNvSpPr/>
          <p:nvPr/>
        </p:nvSpPr>
        <p:spPr>
          <a:xfrm>
            <a:off x="396835" y="2182892"/>
            <a:ext cx="13836729" cy="181451"/>
          </a:xfrm>
          <a:prstGeom prst="rect">
            <a:avLst/>
          </a:prstGeom>
          <a:noFill/>
          <a:ln/>
        </p:spPr>
        <p:txBody>
          <a:bodyPr wrap="none" lIns="0" tIns="0" rIns="0" bIns="0" rtlCol="0" anchor="t"/>
          <a:lstStyle/>
          <a:p>
            <a:pPr marL="0" indent="0" algn="l">
              <a:lnSpc>
                <a:spcPts val="1400"/>
              </a:lnSpc>
              <a:buNone/>
            </a:pPr>
            <a:r>
              <a:rPr lang="en-US" sz="850" dirty="0">
                <a:solidFill>
                  <a:srgbClr val="504C49"/>
                </a:solidFill>
                <a:latin typeface="Source Serif 4" pitchFamily="34" charset="0"/>
                <a:ea typeface="Source Serif 4" pitchFamily="34" charset="-122"/>
                <a:cs typeface="Source Serif 4" pitchFamily="34" charset="-120"/>
              </a:rPr>
              <a:t>The proposed technical architecture overhaul targets critical performance bottlenecks and introduces robust features for a faster, more reliable digital KYC system.</a:t>
            </a:r>
            <a:endParaRPr lang="en-US" sz="850" dirty="0"/>
          </a:p>
        </p:txBody>
      </p:sp>
      <p:pic>
        <p:nvPicPr>
          <p:cNvPr id="5" name="Image 1" descr="preencoded.png"/>
          <p:cNvPicPr>
            <a:picLocks noChangeAspect="1"/>
          </p:cNvPicPr>
          <p:nvPr/>
        </p:nvPicPr>
        <p:blipFill>
          <a:blip r:embed="rId4"/>
          <a:stretch>
            <a:fillRect/>
          </a:stretch>
        </p:blipFill>
        <p:spPr>
          <a:xfrm>
            <a:off x="3307658" y="2290240"/>
            <a:ext cx="6134413" cy="4869602"/>
          </a:xfrm>
          <a:prstGeom prst="rect">
            <a:avLst/>
          </a:prstGeom>
        </p:spPr>
      </p:pic>
      <p:sp>
        <p:nvSpPr>
          <p:cNvPr id="6" name="Text 2"/>
          <p:cNvSpPr/>
          <p:nvPr/>
        </p:nvSpPr>
        <p:spPr>
          <a:xfrm>
            <a:off x="5509920" y="4591405"/>
            <a:ext cx="1701893" cy="1556610"/>
          </a:xfrm>
          <a:prstGeom prst="rect">
            <a:avLst/>
          </a:prstGeom>
          <a:noFill/>
          <a:ln/>
        </p:spPr>
        <p:txBody>
          <a:bodyPr wrap="square" lIns="0" tIns="0" rIns="0" bIns="0" rtlCol="0" anchor="t"/>
          <a:lstStyle/>
          <a:p>
            <a:pPr marL="0" indent="0" algn="ctr">
              <a:lnSpc>
                <a:spcPts val="1650"/>
              </a:lnSpc>
              <a:buNone/>
            </a:pPr>
            <a:r>
              <a:rPr lang="en-US" sz="1350" dirty="0">
                <a:solidFill>
                  <a:srgbClr val="FFFFFF"/>
                </a:solidFill>
                <a:latin typeface="Platypi Medium" pitchFamily="34" charset="0"/>
                <a:ea typeface="Platypi Medium" pitchFamily="34" charset="-122"/>
                <a:cs typeface="Platypi Medium" pitchFamily="34" charset="-120"/>
              </a:rPr>
              <a:t>New Digital KYC Backend</a:t>
            </a:r>
            <a:endParaRPr lang="en-US" sz="1350" dirty="0"/>
          </a:p>
        </p:txBody>
      </p:sp>
      <p:sp>
        <p:nvSpPr>
          <p:cNvPr id="7" name="Text 3"/>
          <p:cNvSpPr/>
          <p:nvPr/>
        </p:nvSpPr>
        <p:spPr>
          <a:xfrm>
            <a:off x="6425966" y="2744054"/>
            <a:ext cx="2531869" cy="778305"/>
          </a:xfrm>
          <a:prstGeom prst="rect">
            <a:avLst/>
          </a:prstGeom>
          <a:noFill/>
          <a:ln/>
        </p:spPr>
        <p:txBody>
          <a:bodyPr wrap="squar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Parallel processing</a:t>
            </a:r>
            <a:endParaRPr lang="en-US" sz="1350" dirty="0"/>
          </a:p>
        </p:txBody>
      </p:sp>
      <p:sp>
        <p:nvSpPr>
          <p:cNvPr id="8" name="Text 4"/>
          <p:cNvSpPr/>
          <p:nvPr/>
        </p:nvSpPr>
        <p:spPr>
          <a:xfrm>
            <a:off x="6451306" y="3193943"/>
            <a:ext cx="2531869" cy="622643"/>
          </a:xfrm>
          <a:prstGeom prst="rect">
            <a:avLst/>
          </a:prstGeom>
          <a:noFill/>
          <a:ln/>
        </p:spPr>
        <p:txBody>
          <a:bodyPr wrap="squar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Concurrent task execution</a:t>
            </a:r>
            <a:endParaRPr lang="en-US" sz="1050" dirty="0"/>
          </a:p>
        </p:txBody>
      </p:sp>
      <p:sp>
        <p:nvSpPr>
          <p:cNvPr id="9" name="Text 5"/>
          <p:cNvSpPr/>
          <p:nvPr/>
        </p:nvSpPr>
        <p:spPr>
          <a:xfrm>
            <a:off x="3727790" y="2672561"/>
            <a:ext cx="2531868" cy="778305"/>
          </a:xfrm>
          <a:prstGeom prst="rect">
            <a:avLst/>
          </a:prstGeom>
          <a:noFill/>
          <a:ln/>
        </p:spPr>
        <p:txBody>
          <a:bodyPr wrap="squar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Device fingerprinting</a:t>
            </a:r>
            <a:endParaRPr lang="en-US" sz="1350" dirty="0"/>
          </a:p>
        </p:txBody>
      </p:sp>
      <p:sp>
        <p:nvSpPr>
          <p:cNvPr id="10" name="Text 6"/>
          <p:cNvSpPr/>
          <p:nvPr/>
        </p:nvSpPr>
        <p:spPr>
          <a:xfrm>
            <a:off x="3727790" y="3315362"/>
            <a:ext cx="2531868" cy="622643"/>
          </a:xfrm>
          <a:prstGeom prst="rect">
            <a:avLst/>
          </a:prstGeom>
          <a:noFill/>
          <a:ln/>
        </p:spPr>
        <p:txBody>
          <a:bodyPr wrap="squar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Contextual device signals</a:t>
            </a:r>
            <a:endParaRPr lang="en-US" sz="1050" dirty="0"/>
          </a:p>
        </p:txBody>
      </p:sp>
      <p:sp>
        <p:nvSpPr>
          <p:cNvPr id="11" name="Text 7"/>
          <p:cNvSpPr/>
          <p:nvPr/>
        </p:nvSpPr>
        <p:spPr>
          <a:xfrm>
            <a:off x="3722964" y="5943926"/>
            <a:ext cx="2531868" cy="778304"/>
          </a:xfrm>
          <a:prstGeom prst="rect">
            <a:avLst/>
          </a:prstGeom>
          <a:noFill/>
          <a:ln/>
        </p:spPr>
        <p:txBody>
          <a:bodyPr wrap="squar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Vendor-agnostic OCR</a:t>
            </a:r>
            <a:endParaRPr lang="en-US" sz="1350" dirty="0"/>
          </a:p>
        </p:txBody>
      </p:sp>
      <p:sp>
        <p:nvSpPr>
          <p:cNvPr id="12" name="Text 8"/>
          <p:cNvSpPr/>
          <p:nvPr/>
        </p:nvSpPr>
        <p:spPr>
          <a:xfrm>
            <a:off x="3727790" y="6374829"/>
            <a:ext cx="2531868" cy="622644"/>
          </a:xfrm>
          <a:prstGeom prst="rect">
            <a:avLst/>
          </a:prstGeom>
          <a:noFill/>
          <a:ln/>
        </p:spPr>
        <p:txBody>
          <a:bodyPr wrap="squar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Pluggable recognition engine</a:t>
            </a:r>
            <a:endParaRPr lang="en-US" sz="1050" dirty="0"/>
          </a:p>
        </p:txBody>
      </p:sp>
      <p:sp>
        <p:nvSpPr>
          <p:cNvPr id="13" name="Text 9"/>
          <p:cNvSpPr/>
          <p:nvPr/>
        </p:nvSpPr>
        <p:spPr>
          <a:xfrm>
            <a:off x="6495161" y="5944375"/>
            <a:ext cx="2531869" cy="389152"/>
          </a:xfrm>
          <a:prstGeom prst="rect">
            <a:avLst/>
          </a:prstGeom>
          <a:noFill/>
          <a:ln/>
        </p:spPr>
        <p:txBody>
          <a:bodyPr wrap="non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Autosave state</a:t>
            </a:r>
            <a:endParaRPr lang="en-US" sz="1350" dirty="0"/>
          </a:p>
        </p:txBody>
      </p:sp>
      <p:sp>
        <p:nvSpPr>
          <p:cNvPr id="14" name="Text 10"/>
          <p:cNvSpPr/>
          <p:nvPr/>
        </p:nvSpPr>
        <p:spPr>
          <a:xfrm>
            <a:off x="7428548" y="7314005"/>
            <a:ext cx="2531869" cy="622643"/>
          </a:xfrm>
          <a:prstGeom prst="rect">
            <a:avLst/>
          </a:prstGeom>
          <a:noFill/>
          <a:ln/>
        </p:spPr>
        <p:txBody>
          <a:bodyPr wrap="squar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Persist progress frequently</a:t>
            </a:r>
            <a:endParaRPr lang="en-US" sz="1050" dirty="0"/>
          </a:p>
        </p:txBody>
      </p:sp>
      <p:sp>
        <p:nvSpPr>
          <p:cNvPr id="15" name="Text 11"/>
          <p:cNvSpPr/>
          <p:nvPr/>
        </p:nvSpPr>
        <p:spPr>
          <a:xfrm>
            <a:off x="7071726" y="4355209"/>
            <a:ext cx="2587214" cy="778305"/>
          </a:xfrm>
          <a:prstGeom prst="rect">
            <a:avLst/>
          </a:prstGeom>
          <a:noFill/>
          <a:ln/>
        </p:spPr>
        <p:txBody>
          <a:bodyPr wrap="squar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Resumable uploads</a:t>
            </a:r>
            <a:endParaRPr lang="en-US" sz="1350" dirty="0"/>
          </a:p>
        </p:txBody>
      </p:sp>
      <p:sp>
        <p:nvSpPr>
          <p:cNvPr id="16" name="Text 12"/>
          <p:cNvSpPr/>
          <p:nvPr/>
        </p:nvSpPr>
        <p:spPr>
          <a:xfrm>
            <a:off x="6997275" y="4689999"/>
            <a:ext cx="2587214" cy="622644"/>
          </a:xfrm>
          <a:prstGeom prst="rect">
            <a:avLst/>
          </a:prstGeom>
          <a:noFill/>
          <a:ln/>
        </p:spPr>
        <p:txBody>
          <a:bodyPr wrap="squar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Continue interrupted transfers</a:t>
            </a:r>
            <a:endParaRPr lang="en-US" sz="1050" dirty="0"/>
          </a:p>
        </p:txBody>
      </p:sp>
      <p:sp>
        <p:nvSpPr>
          <p:cNvPr id="17" name="Text 13"/>
          <p:cNvSpPr/>
          <p:nvPr/>
        </p:nvSpPr>
        <p:spPr>
          <a:xfrm>
            <a:off x="3079942" y="4392599"/>
            <a:ext cx="2587214" cy="778305"/>
          </a:xfrm>
          <a:prstGeom prst="rect">
            <a:avLst/>
          </a:prstGeom>
          <a:noFill/>
          <a:ln/>
        </p:spPr>
        <p:txBody>
          <a:bodyPr wrap="square" lIns="0" tIns="0" rIns="0" bIns="0" rtlCol="0" anchor="t"/>
          <a:lstStyle/>
          <a:p>
            <a:pPr marL="0" indent="0" algn="ctr">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Secure data transfer</a:t>
            </a:r>
            <a:endParaRPr lang="en-US" sz="1350" dirty="0"/>
          </a:p>
        </p:txBody>
      </p:sp>
      <p:sp>
        <p:nvSpPr>
          <p:cNvPr id="18" name="Text 14"/>
          <p:cNvSpPr/>
          <p:nvPr/>
        </p:nvSpPr>
        <p:spPr>
          <a:xfrm>
            <a:off x="3161463" y="4858440"/>
            <a:ext cx="2587214" cy="311321"/>
          </a:xfrm>
          <a:prstGeom prst="rect">
            <a:avLst/>
          </a:prstGeom>
          <a:noFill/>
          <a:ln/>
        </p:spPr>
        <p:txBody>
          <a:bodyPr wrap="none" lIns="0" tIns="0" rIns="0" bIns="0" rtlCol="0" anchor="t"/>
          <a:lstStyle/>
          <a:p>
            <a:pPr marL="0" indent="0" algn="ctr">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Encrypted in transit</a:t>
            </a:r>
            <a:endParaRPr lang="en-US" sz="1050" dirty="0"/>
          </a:p>
        </p:txBody>
      </p:sp>
      <p:pic>
        <p:nvPicPr>
          <p:cNvPr id="1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9340" y="6966423"/>
            <a:ext cx="170021" cy="170021"/>
          </a:xfrm>
          <a:prstGeom prst="rect">
            <a:avLst/>
          </a:prstGeom>
        </p:spPr>
      </p:pic>
      <p:sp>
        <p:nvSpPr>
          <p:cNvPr id="20" name="Text 15"/>
          <p:cNvSpPr/>
          <p:nvPr/>
        </p:nvSpPr>
        <p:spPr>
          <a:xfrm>
            <a:off x="765333" y="6962910"/>
            <a:ext cx="2180034" cy="177165"/>
          </a:xfrm>
          <a:prstGeom prst="rect">
            <a:avLst/>
          </a:prstGeom>
          <a:noFill/>
          <a:ln/>
        </p:spPr>
        <p:txBody>
          <a:bodyPr wrap="none" lIns="0" tIns="0" rIns="0" bIns="0" rtlCol="0" anchor="t"/>
          <a:lstStyle/>
          <a:p>
            <a:pPr marL="0" indent="0" algn="l">
              <a:lnSpc>
                <a:spcPts val="1350"/>
              </a:lnSpc>
              <a:buNone/>
            </a:pPr>
            <a:r>
              <a:rPr lang="en-US" sz="1100" dirty="0">
                <a:solidFill>
                  <a:srgbClr val="504C49"/>
                </a:solidFill>
                <a:latin typeface="Platypi Medium" pitchFamily="34" charset="0"/>
                <a:ea typeface="Platypi Medium" pitchFamily="34" charset="-122"/>
                <a:cs typeface="Platypi Medium" pitchFamily="34" charset="-120"/>
              </a:rPr>
              <a:t>Resumable Uploads &amp; Autosave</a:t>
            </a:r>
            <a:endParaRPr lang="en-US" sz="1100" dirty="0"/>
          </a:p>
        </p:txBody>
      </p:sp>
      <p:sp>
        <p:nvSpPr>
          <p:cNvPr id="21" name="Text 16"/>
          <p:cNvSpPr/>
          <p:nvPr/>
        </p:nvSpPr>
        <p:spPr>
          <a:xfrm>
            <a:off x="765333" y="7208060"/>
            <a:ext cx="6479024" cy="181451"/>
          </a:xfrm>
          <a:prstGeom prst="rect">
            <a:avLst/>
          </a:prstGeom>
          <a:noFill/>
          <a:ln/>
        </p:spPr>
        <p:txBody>
          <a:bodyPr wrap="none" lIns="0" tIns="0" rIns="0" bIns="0" rtlCol="0" anchor="t"/>
          <a:lstStyle/>
          <a:p>
            <a:pPr marL="0" indent="0" algn="l">
              <a:lnSpc>
                <a:spcPts val="1400"/>
              </a:lnSpc>
              <a:buNone/>
            </a:pPr>
            <a:r>
              <a:rPr lang="en-US" sz="850" dirty="0">
                <a:solidFill>
                  <a:srgbClr val="504C49"/>
                </a:solidFill>
                <a:latin typeface="Source Serif 4" pitchFamily="34" charset="0"/>
                <a:ea typeface="Source Serif 4" pitchFamily="34" charset="-122"/>
                <a:cs typeface="Source Serif 4" pitchFamily="34" charset="-120"/>
              </a:rPr>
              <a:t>Ensures user progress is saved, preventing restarts and improving completion rates.</a:t>
            </a:r>
            <a:endParaRPr lang="en-US" sz="850" dirty="0"/>
          </a:p>
        </p:txBody>
      </p:sp>
      <p:pic>
        <p:nvPicPr>
          <p:cNvPr id="2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41969" y="7077350"/>
            <a:ext cx="170021" cy="170021"/>
          </a:xfrm>
          <a:prstGeom prst="rect">
            <a:avLst/>
          </a:prstGeom>
        </p:spPr>
      </p:pic>
      <p:sp>
        <p:nvSpPr>
          <p:cNvPr id="23" name="Text 17"/>
          <p:cNvSpPr/>
          <p:nvPr/>
        </p:nvSpPr>
        <p:spPr>
          <a:xfrm>
            <a:off x="7754540" y="7035797"/>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504C49"/>
                </a:solidFill>
                <a:latin typeface="Platypi Medium" pitchFamily="34" charset="0"/>
                <a:ea typeface="Platypi Medium" pitchFamily="34" charset="-122"/>
                <a:cs typeface="Platypi Medium" pitchFamily="34" charset="-120"/>
              </a:rPr>
              <a:t>Parallel Processing</a:t>
            </a:r>
            <a:endParaRPr lang="en-US" sz="1100" dirty="0"/>
          </a:p>
        </p:txBody>
      </p:sp>
      <p:sp>
        <p:nvSpPr>
          <p:cNvPr id="24" name="Text 18"/>
          <p:cNvSpPr/>
          <p:nvPr/>
        </p:nvSpPr>
        <p:spPr>
          <a:xfrm>
            <a:off x="7754540" y="7208060"/>
            <a:ext cx="6479024" cy="181451"/>
          </a:xfrm>
          <a:prstGeom prst="rect">
            <a:avLst/>
          </a:prstGeom>
          <a:noFill/>
          <a:ln/>
        </p:spPr>
        <p:txBody>
          <a:bodyPr wrap="none" lIns="0" tIns="0" rIns="0" bIns="0" rtlCol="0" anchor="t"/>
          <a:lstStyle/>
          <a:p>
            <a:pPr marL="0" indent="0" algn="l">
              <a:lnSpc>
                <a:spcPts val="1400"/>
              </a:lnSpc>
              <a:buNone/>
            </a:pPr>
            <a:r>
              <a:rPr lang="en-US" sz="850" dirty="0">
                <a:solidFill>
                  <a:srgbClr val="504C49"/>
                </a:solidFill>
                <a:latin typeface="Source Serif 4" pitchFamily="34" charset="0"/>
                <a:ea typeface="Source Serif 4" pitchFamily="34" charset="-122"/>
                <a:cs typeface="Source Serif 4" pitchFamily="34" charset="-120"/>
              </a:rPr>
              <a:t>Enables simultaneous operations for significantly faster response times and reduced TAT.</a:t>
            </a:r>
            <a:endParaRPr lang="en-US" sz="850" dirty="0"/>
          </a:p>
        </p:txBody>
      </p:sp>
      <p:pic>
        <p:nvPicPr>
          <p:cNvPr id="25"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9340" y="7619838"/>
            <a:ext cx="170021" cy="170021"/>
          </a:xfrm>
          <a:prstGeom prst="rect">
            <a:avLst/>
          </a:prstGeom>
        </p:spPr>
      </p:pic>
      <p:sp>
        <p:nvSpPr>
          <p:cNvPr id="26" name="Text 19"/>
          <p:cNvSpPr/>
          <p:nvPr/>
        </p:nvSpPr>
        <p:spPr>
          <a:xfrm>
            <a:off x="765333" y="7616325"/>
            <a:ext cx="1516618" cy="177165"/>
          </a:xfrm>
          <a:prstGeom prst="rect">
            <a:avLst/>
          </a:prstGeom>
          <a:noFill/>
          <a:ln/>
        </p:spPr>
        <p:txBody>
          <a:bodyPr wrap="none" lIns="0" tIns="0" rIns="0" bIns="0" rtlCol="0" anchor="t"/>
          <a:lstStyle/>
          <a:p>
            <a:pPr marL="0" indent="0" algn="l">
              <a:lnSpc>
                <a:spcPts val="1350"/>
              </a:lnSpc>
              <a:buNone/>
            </a:pPr>
            <a:r>
              <a:rPr lang="en-US" sz="1100" dirty="0">
                <a:solidFill>
                  <a:srgbClr val="504C49"/>
                </a:solidFill>
                <a:latin typeface="Platypi Medium" pitchFamily="34" charset="0"/>
                <a:ea typeface="Platypi Medium" pitchFamily="34" charset="-122"/>
                <a:cs typeface="Platypi Medium" pitchFamily="34" charset="-120"/>
              </a:rPr>
              <a:t>Vendor-Agnostic OCR</a:t>
            </a:r>
            <a:endParaRPr lang="en-US" sz="1100" dirty="0"/>
          </a:p>
        </p:txBody>
      </p:sp>
      <p:sp>
        <p:nvSpPr>
          <p:cNvPr id="27" name="Text 20"/>
          <p:cNvSpPr/>
          <p:nvPr/>
        </p:nvSpPr>
        <p:spPr>
          <a:xfrm>
            <a:off x="765333" y="7861475"/>
            <a:ext cx="6479024" cy="181451"/>
          </a:xfrm>
          <a:prstGeom prst="rect">
            <a:avLst/>
          </a:prstGeom>
          <a:noFill/>
          <a:ln/>
        </p:spPr>
        <p:txBody>
          <a:bodyPr wrap="none" lIns="0" tIns="0" rIns="0" bIns="0" rtlCol="0" anchor="t"/>
          <a:lstStyle/>
          <a:p>
            <a:pPr marL="0" indent="0" algn="l">
              <a:lnSpc>
                <a:spcPts val="1400"/>
              </a:lnSpc>
              <a:buNone/>
            </a:pPr>
            <a:r>
              <a:rPr lang="en-US" sz="850" dirty="0">
                <a:solidFill>
                  <a:srgbClr val="504C49"/>
                </a:solidFill>
                <a:latin typeface="Source Serif 4" pitchFamily="34" charset="0"/>
                <a:ea typeface="Source Serif 4" pitchFamily="34" charset="-122"/>
                <a:cs typeface="Source Serif 4" pitchFamily="34" charset="-120"/>
              </a:rPr>
              <a:t>Flexibility to integrate with multiple OCR providers, enhancing accuracy and reducing dependency.</a:t>
            </a:r>
            <a:endParaRPr lang="en-US" sz="850" dirty="0"/>
          </a:p>
        </p:txBody>
      </p:sp>
      <p:pic>
        <p:nvPicPr>
          <p:cNvPr id="28"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28547" y="7619838"/>
            <a:ext cx="170021" cy="170021"/>
          </a:xfrm>
          <a:prstGeom prst="rect">
            <a:avLst/>
          </a:prstGeom>
        </p:spPr>
      </p:pic>
      <p:sp>
        <p:nvSpPr>
          <p:cNvPr id="29" name="Text 21"/>
          <p:cNvSpPr/>
          <p:nvPr/>
        </p:nvSpPr>
        <p:spPr>
          <a:xfrm>
            <a:off x="7754540" y="7616325"/>
            <a:ext cx="1507331" cy="177165"/>
          </a:xfrm>
          <a:prstGeom prst="rect">
            <a:avLst/>
          </a:prstGeom>
          <a:noFill/>
          <a:ln/>
        </p:spPr>
        <p:txBody>
          <a:bodyPr wrap="none" lIns="0" tIns="0" rIns="0" bIns="0" rtlCol="0" anchor="t"/>
          <a:lstStyle/>
          <a:p>
            <a:pPr marL="0" indent="0" algn="l">
              <a:lnSpc>
                <a:spcPts val="1350"/>
              </a:lnSpc>
              <a:buNone/>
            </a:pPr>
            <a:r>
              <a:rPr lang="en-US" sz="1100" dirty="0">
                <a:solidFill>
                  <a:srgbClr val="504C49"/>
                </a:solidFill>
                <a:latin typeface="Platypi Medium" pitchFamily="34" charset="0"/>
                <a:ea typeface="Platypi Medium" pitchFamily="34" charset="-122"/>
                <a:cs typeface="Platypi Medium" pitchFamily="34" charset="-120"/>
              </a:rPr>
              <a:t>Device Fingerprinting</a:t>
            </a:r>
            <a:endParaRPr lang="en-US" sz="1100" dirty="0"/>
          </a:p>
        </p:txBody>
      </p:sp>
      <p:sp>
        <p:nvSpPr>
          <p:cNvPr id="30" name="Text 22"/>
          <p:cNvSpPr/>
          <p:nvPr/>
        </p:nvSpPr>
        <p:spPr>
          <a:xfrm>
            <a:off x="7754540" y="7861475"/>
            <a:ext cx="6479024" cy="181451"/>
          </a:xfrm>
          <a:prstGeom prst="rect">
            <a:avLst/>
          </a:prstGeom>
          <a:noFill/>
          <a:ln/>
        </p:spPr>
        <p:txBody>
          <a:bodyPr wrap="none" lIns="0" tIns="0" rIns="0" bIns="0" rtlCol="0" anchor="t"/>
          <a:lstStyle/>
          <a:p>
            <a:pPr marL="0" indent="0" algn="l">
              <a:lnSpc>
                <a:spcPts val="1400"/>
              </a:lnSpc>
              <a:buNone/>
            </a:pPr>
            <a:r>
              <a:rPr lang="en-US" sz="850" dirty="0">
                <a:solidFill>
                  <a:srgbClr val="504C49"/>
                </a:solidFill>
                <a:latin typeface="Source Serif 4" pitchFamily="34" charset="0"/>
                <a:ea typeface="Source Serif 4" pitchFamily="34" charset="-122"/>
                <a:cs typeface="Source Serif 4" pitchFamily="34" charset="-120"/>
              </a:rPr>
              <a:t>Adds an additional layer of security and helps in identifying unique user sessions.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42422" y="563642"/>
            <a:ext cx="7472363" cy="397193"/>
          </a:xfrm>
          <a:prstGeom prst="rect">
            <a:avLst/>
          </a:prstGeom>
          <a:noFill/>
          <a:ln/>
        </p:spPr>
        <p:txBody>
          <a:bodyPr wrap="none" lIns="0" tIns="0" rIns="0" bIns="0" rtlCol="0" anchor="t"/>
          <a:lstStyle/>
          <a:p>
            <a:pPr marL="0" indent="0" algn="l">
              <a:lnSpc>
                <a:spcPts val="3100"/>
              </a:lnSpc>
              <a:buNone/>
            </a:pPr>
            <a:r>
              <a:rPr lang="en-US" sz="2500" dirty="0">
                <a:solidFill>
                  <a:srgbClr val="201B18"/>
                </a:solidFill>
                <a:latin typeface="Platypi Medium" pitchFamily="34" charset="0"/>
                <a:ea typeface="Platypi Medium" pitchFamily="34" charset="-122"/>
                <a:cs typeface="Platypi Medium" pitchFamily="34" charset="-120"/>
              </a:rPr>
              <a:t>Security &amp; Fraud Controls: Protecting User Data</a:t>
            </a:r>
            <a:endParaRPr lang="en-US" sz="2500" dirty="0"/>
          </a:p>
        </p:txBody>
      </p:sp>
      <p:sp>
        <p:nvSpPr>
          <p:cNvPr id="4" name="Text 1"/>
          <p:cNvSpPr/>
          <p:nvPr/>
        </p:nvSpPr>
        <p:spPr>
          <a:xfrm>
            <a:off x="6042422" y="1199078"/>
            <a:ext cx="8031956" cy="508635"/>
          </a:xfrm>
          <a:prstGeom prst="rect">
            <a:avLst/>
          </a:prstGeom>
          <a:noFill/>
          <a:ln/>
        </p:spPr>
        <p:txBody>
          <a:bodyPr wrap="squar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Robust security measures are paramount to ensure the integrity of the digital KYC process and protect sensitive customer information.</a:t>
            </a:r>
            <a:endParaRPr lang="en-US" sz="1250" dirty="0"/>
          </a:p>
        </p:txBody>
      </p:sp>
      <p:sp>
        <p:nvSpPr>
          <p:cNvPr id="5" name="Shape 2"/>
          <p:cNvSpPr/>
          <p:nvPr/>
        </p:nvSpPr>
        <p:spPr>
          <a:xfrm>
            <a:off x="6042422" y="1886426"/>
            <a:ext cx="8031956" cy="5092065"/>
          </a:xfrm>
          <a:prstGeom prst="roundRect">
            <a:avLst>
              <a:gd name="adj" fmla="val 468"/>
            </a:avLst>
          </a:prstGeom>
          <a:solidFill>
            <a:srgbClr val="F9F7F7"/>
          </a:solidFill>
          <a:ln/>
        </p:spPr>
      </p:sp>
      <p:sp>
        <p:nvSpPr>
          <p:cNvPr id="6" name="Shape 3"/>
          <p:cNvSpPr/>
          <p:nvPr/>
        </p:nvSpPr>
        <p:spPr>
          <a:xfrm>
            <a:off x="6042422" y="1886426"/>
            <a:ext cx="8031956" cy="1153835"/>
          </a:xfrm>
          <a:prstGeom prst="roundRect">
            <a:avLst>
              <a:gd name="adj" fmla="val 2066"/>
            </a:avLst>
          </a:prstGeom>
          <a:solidFill>
            <a:srgbClr val="F9F7F7"/>
          </a:solidFill>
          <a:ln/>
        </p:spPr>
      </p:sp>
      <p:sp>
        <p:nvSpPr>
          <p:cNvPr id="7" name="Text 4"/>
          <p:cNvSpPr/>
          <p:nvPr/>
        </p:nvSpPr>
        <p:spPr>
          <a:xfrm>
            <a:off x="6201251" y="2045256"/>
            <a:ext cx="2099905" cy="248245"/>
          </a:xfrm>
          <a:prstGeom prst="rect">
            <a:avLst/>
          </a:prstGeom>
          <a:noFill/>
          <a:ln/>
        </p:spPr>
        <p:txBody>
          <a:bodyPr wrap="non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Enhanced Encryption</a:t>
            </a:r>
            <a:endParaRPr lang="en-US" sz="1550" dirty="0"/>
          </a:p>
        </p:txBody>
      </p:sp>
      <p:sp>
        <p:nvSpPr>
          <p:cNvPr id="8" name="Text 5"/>
          <p:cNvSpPr/>
          <p:nvPr/>
        </p:nvSpPr>
        <p:spPr>
          <a:xfrm>
            <a:off x="6201251" y="2388751"/>
            <a:ext cx="7714298" cy="254317"/>
          </a:xfrm>
          <a:prstGeom prst="rect">
            <a:avLst/>
          </a:prstGeom>
          <a:noFill/>
          <a:ln/>
        </p:spPr>
        <p:txBody>
          <a:bodyPr wrap="non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Implementation of TLS 1.3 and AES-256 for secure data transmission and storage.</a:t>
            </a:r>
            <a:endParaRPr lang="en-US" sz="1250" dirty="0"/>
          </a:p>
        </p:txBody>
      </p:sp>
      <p:sp>
        <p:nvSpPr>
          <p:cNvPr id="9" name="Shape 6"/>
          <p:cNvSpPr/>
          <p:nvPr/>
        </p:nvSpPr>
        <p:spPr>
          <a:xfrm>
            <a:off x="6042422" y="3040261"/>
            <a:ext cx="8031956" cy="1392198"/>
          </a:xfrm>
          <a:prstGeom prst="rect">
            <a:avLst/>
          </a:prstGeom>
          <a:solidFill>
            <a:srgbClr val="F9F7F7"/>
          </a:solidFill>
          <a:ln/>
        </p:spPr>
      </p:sp>
      <p:sp>
        <p:nvSpPr>
          <p:cNvPr id="10" name="Shape 7"/>
          <p:cNvSpPr/>
          <p:nvPr/>
        </p:nvSpPr>
        <p:spPr>
          <a:xfrm>
            <a:off x="6042422" y="3040261"/>
            <a:ext cx="8031956" cy="22860"/>
          </a:xfrm>
          <a:prstGeom prst="roundRect">
            <a:avLst>
              <a:gd name="adj" fmla="val 104260"/>
            </a:avLst>
          </a:prstGeom>
          <a:solidFill>
            <a:srgbClr val="D8D4D4"/>
          </a:solidFill>
          <a:ln/>
        </p:spPr>
      </p:sp>
      <p:sp>
        <p:nvSpPr>
          <p:cNvPr id="11" name="Shape 8"/>
          <p:cNvSpPr/>
          <p:nvPr/>
        </p:nvSpPr>
        <p:spPr>
          <a:xfrm>
            <a:off x="9859685" y="2853095"/>
            <a:ext cx="397193" cy="397193"/>
          </a:xfrm>
          <a:prstGeom prst="roundRect">
            <a:avLst>
              <a:gd name="adj" fmla="val 6001"/>
            </a:avLst>
          </a:prstGeom>
          <a:solidFill>
            <a:srgbClr val="FFFFFF"/>
          </a:solidFill>
          <a:ln w="22860">
            <a:solidFill>
              <a:srgbClr val="D8D4D4"/>
            </a:solidFill>
            <a:prstDash val="solid"/>
          </a:ln>
        </p:spPr>
      </p:sp>
      <p:pic>
        <p:nvPicPr>
          <p:cNvPr id="12"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8983" y="2952274"/>
            <a:ext cx="198596" cy="198596"/>
          </a:xfrm>
          <a:prstGeom prst="rect">
            <a:avLst/>
          </a:prstGeom>
        </p:spPr>
      </p:pic>
      <p:sp>
        <p:nvSpPr>
          <p:cNvPr id="13" name="Text 9"/>
          <p:cNvSpPr/>
          <p:nvPr/>
        </p:nvSpPr>
        <p:spPr>
          <a:xfrm>
            <a:off x="6201251" y="3437453"/>
            <a:ext cx="1986082" cy="248245"/>
          </a:xfrm>
          <a:prstGeom prst="rect">
            <a:avLst/>
          </a:prstGeom>
          <a:noFill/>
          <a:ln/>
        </p:spPr>
        <p:txBody>
          <a:bodyPr wrap="non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PII Minimisation</a:t>
            </a:r>
            <a:endParaRPr lang="en-US" sz="1550" dirty="0"/>
          </a:p>
        </p:txBody>
      </p:sp>
      <p:sp>
        <p:nvSpPr>
          <p:cNvPr id="14" name="Text 10"/>
          <p:cNvSpPr/>
          <p:nvPr/>
        </p:nvSpPr>
        <p:spPr>
          <a:xfrm>
            <a:off x="6201251" y="3780949"/>
            <a:ext cx="7714298" cy="254317"/>
          </a:xfrm>
          <a:prstGeom prst="rect">
            <a:avLst/>
          </a:prstGeom>
          <a:noFill/>
          <a:ln/>
        </p:spPr>
        <p:txBody>
          <a:bodyPr wrap="non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Strict protocols to minimise the collection and retention of Personally Identifiable Information.</a:t>
            </a:r>
            <a:endParaRPr lang="en-US" sz="1250" dirty="0"/>
          </a:p>
        </p:txBody>
      </p:sp>
      <p:sp>
        <p:nvSpPr>
          <p:cNvPr id="15" name="Shape 11"/>
          <p:cNvSpPr/>
          <p:nvPr/>
        </p:nvSpPr>
        <p:spPr>
          <a:xfrm>
            <a:off x="6042422" y="4432459"/>
            <a:ext cx="8031956" cy="1392198"/>
          </a:xfrm>
          <a:prstGeom prst="rect">
            <a:avLst/>
          </a:prstGeom>
          <a:solidFill>
            <a:srgbClr val="F9F7F7"/>
          </a:solidFill>
          <a:ln/>
        </p:spPr>
      </p:sp>
      <p:sp>
        <p:nvSpPr>
          <p:cNvPr id="16" name="Shape 12"/>
          <p:cNvSpPr/>
          <p:nvPr/>
        </p:nvSpPr>
        <p:spPr>
          <a:xfrm>
            <a:off x="6042422" y="4432459"/>
            <a:ext cx="8031956" cy="22860"/>
          </a:xfrm>
          <a:prstGeom prst="roundRect">
            <a:avLst>
              <a:gd name="adj" fmla="val 104260"/>
            </a:avLst>
          </a:prstGeom>
          <a:solidFill>
            <a:srgbClr val="D8D4D4"/>
          </a:solidFill>
          <a:ln/>
        </p:spPr>
      </p:sp>
      <p:sp>
        <p:nvSpPr>
          <p:cNvPr id="17" name="Shape 13"/>
          <p:cNvSpPr/>
          <p:nvPr/>
        </p:nvSpPr>
        <p:spPr>
          <a:xfrm>
            <a:off x="9859685" y="4245293"/>
            <a:ext cx="397193" cy="397193"/>
          </a:xfrm>
          <a:prstGeom prst="roundRect">
            <a:avLst>
              <a:gd name="adj" fmla="val 6001"/>
            </a:avLst>
          </a:prstGeom>
          <a:solidFill>
            <a:srgbClr val="FFFFFF"/>
          </a:solidFill>
          <a:ln w="22860">
            <a:solidFill>
              <a:srgbClr val="D8D4D4"/>
            </a:solidFill>
            <a:prstDash val="solid"/>
          </a:ln>
        </p:spPr>
      </p:sp>
      <p:pic>
        <p:nvPicPr>
          <p:cNvPr id="1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8983" y="4344472"/>
            <a:ext cx="198596" cy="198596"/>
          </a:xfrm>
          <a:prstGeom prst="rect">
            <a:avLst/>
          </a:prstGeom>
        </p:spPr>
      </p:pic>
      <p:sp>
        <p:nvSpPr>
          <p:cNvPr id="19" name="Text 14"/>
          <p:cNvSpPr/>
          <p:nvPr/>
        </p:nvSpPr>
        <p:spPr>
          <a:xfrm>
            <a:off x="6201251" y="4829651"/>
            <a:ext cx="2473047" cy="248245"/>
          </a:xfrm>
          <a:prstGeom prst="rect">
            <a:avLst/>
          </a:prstGeom>
          <a:noFill/>
          <a:ln/>
        </p:spPr>
        <p:txBody>
          <a:bodyPr wrap="non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Liveness &amp; Anti-Spoofing</a:t>
            </a:r>
            <a:endParaRPr lang="en-US" sz="1550" dirty="0"/>
          </a:p>
        </p:txBody>
      </p:sp>
      <p:sp>
        <p:nvSpPr>
          <p:cNvPr id="20" name="Text 15"/>
          <p:cNvSpPr/>
          <p:nvPr/>
        </p:nvSpPr>
        <p:spPr>
          <a:xfrm>
            <a:off x="6201251" y="5173147"/>
            <a:ext cx="7714298" cy="254317"/>
          </a:xfrm>
          <a:prstGeom prst="rect">
            <a:avLst/>
          </a:prstGeom>
          <a:noFill/>
          <a:ln/>
        </p:spPr>
        <p:txBody>
          <a:bodyPr wrap="non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Advanced techniques to verify user presence and prevent fraudulent identity attempts.</a:t>
            </a:r>
            <a:endParaRPr lang="en-US" sz="1250" dirty="0"/>
          </a:p>
        </p:txBody>
      </p:sp>
      <p:sp>
        <p:nvSpPr>
          <p:cNvPr id="21" name="Shape 16"/>
          <p:cNvSpPr/>
          <p:nvPr/>
        </p:nvSpPr>
        <p:spPr>
          <a:xfrm>
            <a:off x="6042422" y="5824657"/>
            <a:ext cx="8031956" cy="1153835"/>
          </a:xfrm>
          <a:prstGeom prst="rect">
            <a:avLst/>
          </a:prstGeom>
          <a:solidFill>
            <a:srgbClr val="F9F7F7"/>
          </a:solidFill>
          <a:ln/>
        </p:spPr>
      </p:sp>
      <p:sp>
        <p:nvSpPr>
          <p:cNvPr id="22" name="Shape 17"/>
          <p:cNvSpPr/>
          <p:nvPr/>
        </p:nvSpPr>
        <p:spPr>
          <a:xfrm>
            <a:off x="6042422" y="5824657"/>
            <a:ext cx="8031956" cy="22860"/>
          </a:xfrm>
          <a:prstGeom prst="roundRect">
            <a:avLst>
              <a:gd name="adj" fmla="val 104260"/>
            </a:avLst>
          </a:prstGeom>
          <a:solidFill>
            <a:srgbClr val="D8D4D4"/>
          </a:solidFill>
          <a:ln/>
        </p:spPr>
      </p:sp>
      <p:sp>
        <p:nvSpPr>
          <p:cNvPr id="23" name="Shape 18"/>
          <p:cNvSpPr/>
          <p:nvPr/>
        </p:nvSpPr>
        <p:spPr>
          <a:xfrm>
            <a:off x="9859685" y="5637490"/>
            <a:ext cx="397193" cy="397193"/>
          </a:xfrm>
          <a:prstGeom prst="roundRect">
            <a:avLst>
              <a:gd name="adj" fmla="val 6001"/>
            </a:avLst>
          </a:prstGeom>
          <a:solidFill>
            <a:srgbClr val="FFFFFF"/>
          </a:solidFill>
          <a:ln w="22860">
            <a:solidFill>
              <a:srgbClr val="D8D4D4"/>
            </a:solidFill>
            <a:prstDash val="solid"/>
          </a:ln>
        </p:spPr>
      </p:sp>
      <p:pic>
        <p:nvPicPr>
          <p:cNvPr id="2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58983" y="5736669"/>
            <a:ext cx="198596" cy="198596"/>
          </a:xfrm>
          <a:prstGeom prst="rect">
            <a:avLst/>
          </a:prstGeom>
        </p:spPr>
      </p:pic>
      <p:sp>
        <p:nvSpPr>
          <p:cNvPr id="25" name="Text 19"/>
          <p:cNvSpPr/>
          <p:nvPr/>
        </p:nvSpPr>
        <p:spPr>
          <a:xfrm>
            <a:off x="6201251" y="6221849"/>
            <a:ext cx="2159437" cy="248245"/>
          </a:xfrm>
          <a:prstGeom prst="rect">
            <a:avLst/>
          </a:prstGeom>
          <a:noFill/>
          <a:ln/>
        </p:spPr>
        <p:txBody>
          <a:bodyPr wrap="non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Face-Match Threshold</a:t>
            </a:r>
            <a:endParaRPr lang="en-US" sz="1550" dirty="0"/>
          </a:p>
        </p:txBody>
      </p:sp>
      <p:sp>
        <p:nvSpPr>
          <p:cNvPr id="26" name="Text 20"/>
          <p:cNvSpPr/>
          <p:nvPr/>
        </p:nvSpPr>
        <p:spPr>
          <a:xfrm>
            <a:off x="6201251" y="6565344"/>
            <a:ext cx="7714298" cy="254317"/>
          </a:xfrm>
          <a:prstGeom prst="rect">
            <a:avLst/>
          </a:prstGeom>
          <a:noFill/>
          <a:ln/>
        </p:spPr>
        <p:txBody>
          <a:bodyPr wrap="non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Configurable thresholds for facial recognition to enhance accuracy and security during selfie capture.</a:t>
            </a:r>
            <a:endParaRPr lang="en-US" sz="1250" dirty="0"/>
          </a:p>
        </p:txBody>
      </p:sp>
      <p:sp>
        <p:nvSpPr>
          <p:cNvPr id="27" name="Text 21"/>
          <p:cNvSpPr/>
          <p:nvPr/>
        </p:nvSpPr>
        <p:spPr>
          <a:xfrm>
            <a:off x="6042422" y="7157204"/>
            <a:ext cx="8031956" cy="508635"/>
          </a:xfrm>
          <a:prstGeom prst="rect">
            <a:avLst/>
          </a:prstGeom>
          <a:noFill/>
          <a:ln/>
        </p:spPr>
        <p:txBody>
          <a:bodyPr wrap="square" lIns="0" tIns="0" rIns="0" bIns="0" rtlCol="0" anchor="t"/>
          <a:lstStyle/>
          <a:p>
            <a:pPr marL="0" indent="0" algn="l">
              <a:lnSpc>
                <a:spcPts val="2000"/>
              </a:lnSpc>
              <a:buNone/>
            </a:pPr>
            <a:r>
              <a:rPr lang="en-US" sz="1250" dirty="0">
                <a:solidFill>
                  <a:srgbClr val="504C49"/>
                </a:solidFill>
                <a:latin typeface="Source Serif 4" pitchFamily="34" charset="0"/>
                <a:ea typeface="Source Serif 4" pitchFamily="34" charset="-122"/>
                <a:cs typeface="Source Serif 4" pitchFamily="34" charset="-120"/>
              </a:rPr>
              <a:t>These controls are designed to build user trust and ensure compliance with stringent regulatory requirements.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9361" y="470892"/>
            <a:ext cx="10051852" cy="428149"/>
          </a:xfrm>
          <a:prstGeom prst="rect">
            <a:avLst/>
          </a:prstGeom>
          <a:noFill/>
          <a:ln/>
        </p:spPr>
        <p:txBody>
          <a:bodyPr wrap="none" lIns="0" tIns="0" rIns="0" bIns="0" rtlCol="0" anchor="t"/>
          <a:lstStyle/>
          <a:p>
            <a:pPr marL="0" indent="0" algn="l">
              <a:lnSpc>
                <a:spcPts val="3350"/>
              </a:lnSpc>
              <a:buNone/>
            </a:pPr>
            <a:r>
              <a:rPr lang="en-US" sz="2650" dirty="0">
                <a:solidFill>
                  <a:srgbClr val="201B18"/>
                </a:solidFill>
                <a:latin typeface="Platypi Medium" pitchFamily="34" charset="0"/>
                <a:ea typeface="Platypi Medium" pitchFamily="34" charset="-122"/>
                <a:cs typeface="Platypi Medium" pitchFamily="34" charset="-120"/>
              </a:rPr>
              <a:t>KPI Targets &amp; Expected Impact: Driving Business Outcomes</a:t>
            </a:r>
            <a:endParaRPr lang="en-US" sz="2650" dirty="0"/>
          </a:p>
        </p:txBody>
      </p:sp>
      <p:sp>
        <p:nvSpPr>
          <p:cNvPr id="3" name="Text 1"/>
          <p:cNvSpPr/>
          <p:nvPr/>
        </p:nvSpPr>
        <p:spPr>
          <a:xfrm>
            <a:off x="599361" y="1241465"/>
            <a:ext cx="13431679" cy="547688"/>
          </a:xfrm>
          <a:prstGeom prst="rect">
            <a:avLst/>
          </a:prstGeom>
          <a:noFill/>
          <a:ln/>
        </p:spPr>
        <p:txBody>
          <a:bodyPr wrap="squar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The proposed redesign is projected to deliver significant improvements across key performance indicators, translating into substantial business benefits for HDFC Bank.</a:t>
            </a:r>
            <a:endParaRPr lang="en-US" sz="1300" dirty="0"/>
          </a:p>
        </p:txBody>
      </p:sp>
      <p:sp>
        <p:nvSpPr>
          <p:cNvPr id="4" name="Shape 2"/>
          <p:cNvSpPr/>
          <p:nvPr/>
        </p:nvSpPr>
        <p:spPr>
          <a:xfrm>
            <a:off x="599361" y="1981795"/>
            <a:ext cx="13431679" cy="2488168"/>
          </a:xfrm>
          <a:prstGeom prst="roundRect">
            <a:avLst>
              <a:gd name="adj" fmla="val 1032"/>
            </a:avLst>
          </a:prstGeom>
          <a:noFill/>
          <a:ln w="7620">
            <a:solidFill>
              <a:srgbClr val="000000">
                <a:alpha val="8000"/>
              </a:srgbClr>
            </a:solidFill>
            <a:prstDash val="solid"/>
          </a:ln>
        </p:spPr>
      </p:sp>
      <p:sp>
        <p:nvSpPr>
          <p:cNvPr id="5" name="Shape 3"/>
          <p:cNvSpPr/>
          <p:nvPr/>
        </p:nvSpPr>
        <p:spPr>
          <a:xfrm>
            <a:off x="606981" y="1989415"/>
            <a:ext cx="13416439" cy="494586"/>
          </a:xfrm>
          <a:prstGeom prst="rect">
            <a:avLst/>
          </a:prstGeom>
          <a:solidFill>
            <a:srgbClr val="FFFFFF">
              <a:alpha val="4000"/>
            </a:srgbClr>
          </a:solidFill>
          <a:ln/>
        </p:spPr>
      </p:sp>
      <p:sp>
        <p:nvSpPr>
          <p:cNvPr id="6" name="Text 4"/>
          <p:cNvSpPr/>
          <p:nvPr/>
        </p:nvSpPr>
        <p:spPr>
          <a:xfrm>
            <a:off x="778312" y="2099786"/>
            <a:ext cx="3678674" cy="273844"/>
          </a:xfrm>
          <a:prstGeom prst="rect">
            <a:avLst/>
          </a:prstGeom>
          <a:noFill/>
          <a:ln/>
        </p:spPr>
        <p:txBody>
          <a:bodyPr wrap="none" lIns="0" tIns="0" rIns="0" bIns="0" rtlCol="0" anchor="t"/>
          <a:lstStyle/>
          <a:p>
            <a:pPr marL="0" indent="0" algn="l">
              <a:lnSpc>
                <a:spcPts val="2150"/>
              </a:lnSpc>
              <a:buNone/>
            </a:pPr>
            <a:r>
              <a:rPr lang="en-US" sz="1300" b="1" dirty="0">
                <a:solidFill>
                  <a:srgbClr val="504C49"/>
                </a:solidFill>
                <a:latin typeface="Source Serif 4" pitchFamily="34" charset="0"/>
                <a:ea typeface="Source Serif 4" pitchFamily="34" charset="-122"/>
                <a:cs typeface="Source Serif 4" pitchFamily="34" charset="-120"/>
              </a:rPr>
              <a:t>Metric</a:t>
            </a:r>
            <a:endParaRPr lang="en-US" sz="1300" dirty="0"/>
          </a:p>
        </p:txBody>
      </p:sp>
      <p:sp>
        <p:nvSpPr>
          <p:cNvPr id="7" name="Text 5"/>
          <p:cNvSpPr/>
          <p:nvPr/>
        </p:nvSpPr>
        <p:spPr>
          <a:xfrm>
            <a:off x="4807029" y="2099786"/>
            <a:ext cx="4345662" cy="273844"/>
          </a:xfrm>
          <a:prstGeom prst="rect">
            <a:avLst/>
          </a:prstGeom>
          <a:noFill/>
          <a:ln/>
        </p:spPr>
        <p:txBody>
          <a:bodyPr wrap="none" lIns="0" tIns="0" rIns="0" bIns="0" rtlCol="0" anchor="t"/>
          <a:lstStyle/>
          <a:p>
            <a:pPr marL="0" indent="0" algn="l">
              <a:lnSpc>
                <a:spcPts val="2150"/>
              </a:lnSpc>
              <a:buNone/>
            </a:pPr>
            <a:r>
              <a:rPr lang="en-US" sz="1300" b="1" dirty="0">
                <a:solidFill>
                  <a:srgbClr val="504C49"/>
                </a:solidFill>
                <a:latin typeface="Source Serif 4" pitchFamily="34" charset="0"/>
                <a:ea typeface="Source Serif 4" pitchFamily="34" charset="-122"/>
                <a:cs typeface="Source Serif 4" pitchFamily="34" charset="-120"/>
              </a:rPr>
              <a:t>Current Target</a:t>
            </a:r>
            <a:endParaRPr lang="en-US" sz="1300" dirty="0"/>
          </a:p>
        </p:txBody>
      </p:sp>
      <p:sp>
        <p:nvSpPr>
          <p:cNvPr id="8" name="Text 6"/>
          <p:cNvSpPr/>
          <p:nvPr/>
        </p:nvSpPr>
        <p:spPr>
          <a:xfrm>
            <a:off x="9502735" y="2099786"/>
            <a:ext cx="4349472" cy="273844"/>
          </a:xfrm>
          <a:prstGeom prst="rect">
            <a:avLst/>
          </a:prstGeom>
          <a:noFill/>
          <a:ln/>
        </p:spPr>
        <p:txBody>
          <a:bodyPr wrap="none" lIns="0" tIns="0" rIns="0" bIns="0" rtlCol="0" anchor="t"/>
          <a:lstStyle/>
          <a:p>
            <a:pPr marL="0" indent="0" algn="l">
              <a:lnSpc>
                <a:spcPts val="2150"/>
              </a:lnSpc>
              <a:buNone/>
            </a:pPr>
            <a:r>
              <a:rPr lang="en-US" sz="1300" b="1" dirty="0">
                <a:solidFill>
                  <a:srgbClr val="504C49"/>
                </a:solidFill>
                <a:latin typeface="Source Serif 4" pitchFamily="34" charset="0"/>
                <a:ea typeface="Source Serif 4" pitchFamily="34" charset="-122"/>
                <a:cs typeface="Source Serif 4" pitchFamily="34" charset="-120"/>
              </a:rPr>
              <a:t>Projected Target</a:t>
            </a:r>
            <a:endParaRPr lang="en-US" sz="1300" dirty="0"/>
          </a:p>
        </p:txBody>
      </p:sp>
      <p:sp>
        <p:nvSpPr>
          <p:cNvPr id="9" name="Shape 7"/>
          <p:cNvSpPr/>
          <p:nvPr/>
        </p:nvSpPr>
        <p:spPr>
          <a:xfrm>
            <a:off x="606981" y="2484001"/>
            <a:ext cx="13416439" cy="494586"/>
          </a:xfrm>
          <a:prstGeom prst="rect">
            <a:avLst/>
          </a:prstGeom>
          <a:solidFill>
            <a:srgbClr val="000000">
              <a:alpha val="4000"/>
            </a:srgbClr>
          </a:solidFill>
          <a:ln/>
        </p:spPr>
      </p:sp>
      <p:sp>
        <p:nvSpPr>
          <p:cNvPr id="10" name="Text 8"/>
          <p:cNvSpPr/>
          <p:nvPr/>
        </p:nvSpPr>
        <p:spPr>
          <a:xfrm>
            <a:off x="778312" y="2594372"/>
            <a:ext cx="3678674"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Scan Success</a:t>
            </a:r>
            <a:endParaRPr lang="en-US" sz="1300" dirty="0"/>
          </a:p>
        </p:txBody>
      </p:sp>
      <p:sp>
        <p:nvSpPr>
          <p:cNvPr id="11" name="Text 9"/>
          <p:cNvSpPr/>
          <p:nvPr/>
        </p:nvSpPr>
        <p:spPr>
          <a:xfrm>
            <a:off x="4807029" y="2594372"/>
            <a:ext cx="4345662"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65%</a:t>
            </a:r>
            <a:endParaRPr lang="en-US" sz="1300" dirty="0"/>
          </a:p>
        </p:txBody>
      </p:sp>
      <p:sp>
        <p:nvSpPr>
          <p:cNvPr id="12" name="Text 10"/>
          <p:cNvSpPr/>
          <p:nvPr/>
        </p:nvSpPr>
        <p:spPr>
          <a:xfrm>
            <a:off x="9502735" y="2594372"/>
            <a:ext cx="4349472" cy="273844"/>
          </a:xfrm>
          <a:prstGeom prst="rect">
            <a:avLst/>
          </a:prstGeom>
          <a:noFill/>
          <a:ln/>
        </p:spPr>
        <p:txBody>
          <a:bodyPr wrap="none" lIns="0" tIns="0" rIns="0" bIns="0" rtlCol="0" anchor="t"/>
          <a:lstStyle/>
          <a:p>
            <a:pPr marL="0" indent="0" algn="l">
              <a:lnSpc>
                <a:spcPts val="2150"/>
              </a:lnSpc>
              <a:buNone/>
            </a:pPr>
            <a:r>
              <a:rPr lang="en-US" sz="1300" dirty="0">
                <a:solidFill>
                  <a:srgbClr val="3E2513"/>
                </a:solidFill>
                <a:latin typeface="Source Serif 4" pitchFamily="34" charset="0"/>
                <a:ea typeface="Source Serif 4" pitchFamily="34" charset="-122"/>
                <a:cs typeface="Source Serif 4" pitchFamily="34" charset="-120"/>
              </a:rPr>
              <a:t>85%</a:t>
            </a:r>
            <a:endParaRPr lang="en-US" sz="1300" dirty="0"/>
          </a:p>
        </p:txBody>
      </p:sp>
      <p:sp>
        <p:nvSpPr>
          <p:cNvPr id="13" name="Shape 11"/>
          <p:cNvSpPr/>
          <p:nvPr/>
        </p:nvSpPr>
        <p:spPr>
          <a:xfrm>
            <a:off x="606981" y="2978587"/>
            <a:ext cx="13416439" cy="494586"/>
          </a:xfrm>
          <a:prstGeom prst="rect">
            <a:avLst/>
          </a:prstGeom>
          <a:solidFill>
            <a:srgbClr val="FFFFFF">
              <a:alpha val="4000"/>
            </a:srgbClr>
          </a:solidFill>
          <a:ln/>
        </p:spPr>
      </p:sp>
      <p:sp>
        <p:nvSpPr>
          <p:cNvPr id="14" name="Text 12"/>
          <p:cNvSpPr/>
          <p:nvPr/>
        </p:nvSpPr>
        <p:spPr>
          <a:xfrm>
            <a:off x="778312" y="3088958"/>
            <a:ext cx="3678674"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Upload Success</a:t>
            </a:r>
            <a:endParaRPr lang="en-US" sz="1300" dirty="0"/>
          </a:p>
        </p:txBody>
      </p:sp>
      <p:sp>
        <p:nvSpPr>
          <p:cNvPr id="15" name="Text 13"/>
          <p:cNvSpPr/>
          <p:nvPr/>
        </p:nvSpPr>
        <p:spPr>
          <a:xfrm>
            <a:off x="4807029" y="3088958"/>
            <a:ext cx="4345662"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75%</a:t>
            </a:r>
            <a:endParaRPr lang="en-US" sz="1300" dirty="0"/>
          </a:p>
        </p:txBody>
      </p:sp>
      <p:sp>
        <p:nvSpPr>
          <p:cNvPr id="16" name="Text 14"/>
          <p:cNvSpPr/>
          <p:nvPr/>
        </p:nvSpPr>
        <p:spPr>
          <a:xfrm>
            <a:off x="9502735" y="3088958"/>
            <a:ext cx="4349472" cy="273844"/>
          </a:xfrm>
          <a:prstGeom prst="rect">
            <a:avLst/>
          </a:prstGeom>
          <a:noFill/>
          <a:ln/>
        </p:spPr>
        <p:txBody>
          <a:bodyPr wrap="none" lIns="0" tIns="0" rIns="0" bIns="0" rtlCol="0" anchor="t"/>
          <a:lstStyle/>
          <a:p>
            <a:pPr marL="0" indent="0" algn="l">
              <a:lnSpc>
                <a:spcPts val="2150"/>
              </a:lnSpc>
              <a:buNone/>
            </a:pPr>
            <a:r>
              <a:rPr lang="en-US" sz="1300" dirty="0">
                <a:solidFill>
                  <a:srgbClr val="3E2513"/>
                </a:solidFill>
                <a:latin typeface="Source Serif 4" pitchFamily="34" charset="0"/>
                <a:ea typeface="Source Serif 4" pitchFamily="34" charset="-122"/>
                <a:cs typeface="Source Serif 4" pitchFamily="34" charset="-120"/>
              </a:rPr>
              <a:t>90%</a:t>
            </a:r>
            <a:endParaRPr lang="en-US" sz="1300" dirty="0"/>
          </a:p>
        </p:txBody>
      </p:sp>
      <p:sp>
        <p:nvSpPr>
          <p:cNvPr id="17" name="Shape 15"/>
          <p:cNvSpPr/>
          <p:nvPr/>
        </p:nvSpPr>
        <p:spPr>
          <a:xfrm>
            <a:off x="606981" y="3473172"/>
            <a:ext cx="13416439" cy="494586"/>
          </a:xfrm>
          <a:prstGeom prst="rect">
            <a:avLst/>
          </a:prstGeom>
          <a:solidFill>
            <a:srgbClr val="000000">
              <a:alpha val="4000"/>
            </a:srgbClr>
          </a:solidFill>
          <a:ln/>
        </p:spPr>
      </p:sp>
      <p:sp>
        <p:nvSpPr>
          <p:cNvPr id="18" name="Text 16"/>
          <p:cNvSpPr/>
          <p:nvPr/>
        </p:nvSpPr>
        <p:spPr>
          <a:xfrm>
            <a:off x="778312" y="3583543"/>
            <a:ext cx="3678674"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Verification Success</a:t>
            </a:r>
            <a:endParaRPr lang="en-US" sz="1300" dirty="0"/>
          </a:p>
        </p:txBody>
      </p:sp>
      <p:sp>
        <p:nvSpPr>
          <p:cNvPr id="19" name="Text 17"/>
          <p:cNvSpPr/>
          <p:nvPr/>
        </p:nvSpPr>
        <p:spPr>
          <a:xfrm>
            <a:off x="4807029" y="3583543"/>
            <a:ext cx="4345662"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85%</a:t>
            </a:r>
            <a:endParaRPr lang="en-US" sz="1300" dirty="0"/>
          </a:p>
        </p:txBody>
      </p:sp>
      <p:sp>
        <p:nvSpPr>
          <p:cNvPr id="20" name="Text 18"/>
          <p:cNvSpPr/>
          <p:nvPr/>
        </p:nvSpPr>
        <p:spPr>
          <a:xfrm>
            <a:off x="9502735" y="3583543"/>
            <a:ext cx="4349472" cy="273844"/>
          </a:xfrm>
          <a:prstGeom prst="rect">
            <a:avLst/>
          </a:prstGeom>
          <a:noFill/>
          <a:ln/>
        </p:spPr>
        <p:txBody>
          <a:bodyPr wrap="none" lIns="0" tIns="0" rIns="0" bIns="0" rtlCol="0" anchor="t"/>
          <a:lstStyle/>
          <a:p>
            <a:pPr marL="0" indent="0" algn="l">
              <a:lnSpc>
                <a:spcPts val="2150"/>
              </a:lnSpc>
              <a:buNone/>
            </a:pPr>
            <a:r>
              <a:rPr lang="en-US" sz="1300" dirty="0">
                <a:solidFill>
                  <a:srgbClr val="3E2513"/>
                </a:solidFill>
                <a:latin typeface="Source Serif 4" pitchFamily="34" charset="0"/>
                <a:ea typeface="Source Serif 4" pitchFamily="34" charset="-122"/>
                <a:cs typeface="Source Serif 4" pitchFamily="34" charset="-120"/>
              </a:rPr>
              <a:t>90%</a:t>
            </a:r>
            <a:endParaRPr lang="en-US" sz="1300" dirty="0"/>
          </a:p>
        </p:txBody>
      </p:sp>
      <p:sp>
        <p:nvSpPr>
          <p:cNvPr id="21" name="Shape 19"/>
          <p:cNvSpPr/>
          <p:nvPr/>
        </p:nvSpPr>
        <p:spPr>
          <a:xfrm>
            <a:off x="606981" y="3967758"/>
            <a:ext cx="13416439" cy="494586"/>
          </a:xfrm>
          <a:prstGeom prst="rect">
            <a:avLst/>
          </a:prstGeom>
          <a:solidFill>
            <a:srgbClr val="FFFFFF">
              <a:alpha val="4000"/>
            </a:srgbClr>
          </a:solidFill>
          <a:ln/>
        </p:spPr>
      </p:sp>
      <p:sp>
        <p:nvSpPr>
          <p:cNvPr id="22" name="Text 20"/>
          <p:cNvSpPr/>
          <p:nvPr/>
        </p:nvSpPr>
        <p:spPr>
          <a:xfrm>
            <a:off x="778312" y="4078129"/>
            <a:ext cx="3678674"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Overall Completion Rate</a:t>
            </a:r>
            <a:endParaRPr lang="en-US" sz="1300" dirty="0"/>
          </a:p>
        </p:txBody>
      </p:sp>
      <p:sp>
        <p:nvSpPr>
          <p:cNvPr id="23" name="Text 21"/>
          <p:cNvSpPr/>
          <p:nvPr/>
        </p:nvSpPr>
        <p:spPr>
          <a:xfrm>
            <a:off x="4807029" y="4078129"/>
            <a:ext cx="4345662" cy="273844"/>
          </a:xfrm>
          <a:prstGeom prst="rect">
            <a:avLst/>
          </a:prstGeom>
          <a:noFill/>
          <a:ln/>
        </p:spPr>
        <p:txBody>
          <a:bodyPr wrap="none" lIns="0" tIns="0" rIns="0" bIns="0" rtlCol="0" anchor="t"/>
          <a:lstStyle/>
          <a:p>
            <a:pPr marL="0" indent="0" algn="l">
              <a:lnSpc>
                <a:spcPts val="2150"/>
              </a:lnSpc>
              <a:buNone/>
            </a:pPr>
            <a:r>
              <a:rPr lang="en-US" sz="1300" dirty="0">
                <a:solidFill>
                  <a:srgbClr val="504C49"/>
                </a:solidFill>
                <a:latin typeface="Source Serif 4" pitchFamily="34" charset="0"/>
                <a:ea typeface="Source Serif 4" pitchFamily="34" charset="-122"/>
                <a:cs typeface="Source Serif 4" pitchFamily="34" charset="-120"/>
              </a:rPr>
              <a:t>32%</a:t>
            </a:r>
            <a:endParaRPr lang="en-US" sz="1300" dirty="0"/>
          </a:p>
        </p:txBody>
      </p:sp>
      <p:sp>
        <p:nvSpPr>
          <p:cNvPr id="24" name="Text 22"/>
          <p:cNvSpPr/>
          <p:nvPr/>
        </p:nvSpPr>
        <p:spPr>
          <a:xfrm>
            <a:off x="9502735" y="4078129"/>
            <a:ext cx="4349472" cy="273844"/>
          </a:xfrm>
          <a:prstGeom prst="rect">
            <a:avLst/>
          </a:prstGeom>
          <a:noFill/>
          <a:ln/>
        </p:spPr>
        <p:txBody>
          <a:bodyPr wrap="none" lIns="0" tIns="0" rIns="0" bIns="0" rtlCol="0" anchor="t"/>
          <a:lstStyle/>
          <a:p>
            <a:pPr marL="0" indent="0" algn="l">
              <a:lnSpc>
                <a:spcPts val="2150"/>
              </a:lnSpc>
              <a:buNone/>
            </a:pPr>
            <a:r>
              <a:rPr lang="en-US" sz="1300" dirty="0">
                <a:solidFill>
                  <a:srgbClr val="3E2513"/>
                </a:solidFill>
                <a:latin typeface="Source Serif 4" pitchFamily="34" charset="0"/>
                <a:ea typeface="Source Serif 4" pitchFamily="34" charset="-122"/>
                <a:cs typeface="Source Serif 4" pitchFamily="34" charset="-120"/>
              </a:rPr>
              <a:t>55-60%</a:t>
            </a:r>
            <a:endParaRPr lang="en-US" sz="1300" dirty="0"/>
          </a:p>
        </p:txBody>
      </p:sp>
      <p:sp>
        <p:nvSpPr>
          <p:cNvPr id="25" name="Text 23"/>
          <p:cNvSpPr/>
          <p:nvPr/>
        </p:nvSpPr>
        <p:spPr>
          <a:xfrm>
            <a:off x="599361" y="4726781"/>
            <a:ext cx="3776305" cy="321112"/>
          </a:xfrm>
          <a:prstGeom prst="rect">
            <a:avLst/>
          </a:prstGeom>
          <a:noFill/>
          <a:ln/>
        </p:spPr>
        <p:txBody>
          <a:bodyPr wrap="none" lIns="0" tIns="0" rIns="0" bIns="0" rtlCol="0" anchor="t"/>
          <a:lstStyle/>
          <a:p>
            <a:pPr marL="0" indent="0" algn="l">
              <a:lnSpc>
                <a:spcPts val="2500"/>
              </a:lnSpc>
              <a:buNone/>
            </a:pPr>
            <a:r>
              <a:rPr lang="en-US" sz="2000" dirty="0">
                <a:solidFill>
                  <a:srgbClr val="201B18"/>
                </a:solidFill>
                <a:latin typeface="Platypi Medium" pitchFamily="34" charset="0"/>
                <a:ea typeface="Platypi Medium" pitchFamily="34" charset="-122"/>
                <a:cs typeface="Platypi Medium" pitchFamily="34" charset="-120"/>
              </a:rPr>
              <a:t>Expected Business Outcomes:</a:t>
            </a:r>
            <a:endParaRPr lang="en-US" sz="2000" dirty="0"/>
          </a:p>
        </p:txBody>
      </p:sp>
      <p:sp>
        <p:nvSpPr>
          <p:cNvPr id="26" name="Shape 24"/>
          <p:cNvSpPr/>
          <p:nvPr/>
        </p:nvSpPr>
        <p:spPr>
          <a:xfrm>
            <a:off x="599361" y="5561528"/>
            <a:ext cx="6630233" cy="889754"/>
          </a:xfrm>
          <a:prstGeom prst="roundRect">
            <a:avLst>
              <a:gd name="adj" fmla="val 12332"/>
            </a:avLst>
          </a:prstGeom>
          <a:solidFill>
            <a:srgbClr val="FFFFFF"/>
          </a:solidFill>
          <a:ln/>
        </p:spPr>
      </p:sp>
      <p:sp>
        <p:nvSpPr>
          <p:cNvPr id="27" name="Shape 25"/>
          <p:cNvSpPr/>
          <p:nvPr/>
        </p:nvSpPr>
        <p:spPr>
          <a:xfrm>
            <a:off x="599361" y="5538668"/>
            <a:ext cx="6630233" cy="91440"/>
          </a:xfrm>
          <a:prstGeom prst="roundRect">
            <a:avLst>
              <a:gd name="adj" fmla="val 28095"/>
            </a:avLst>
          </a:prstGeom>
          <a:solidFill>
            <a:srgbClr val="3E2513"/>
          </a:solidFill>
          <a:ln/>
        </p:spPr>
      </p:sp>
      <p:sp>
        <p:nvSpPr>
          <p:cNvPr id="28" name="Shape 26"/>
          <p:cNvSpPr/>
          <p:nvPr/>
        </p:nvSpPr>
        <p:spPr>
          <a:xfrm>
            <a:off x="3657540" y="5304711"/>
            <a:ext cx="513755" cy="513755"/>
          </a:xfrm>
          <a:prstGeom prst="roundRect">
            <a:avLst>
              <a:gd name="adj" fmla="val 177984"/>
            </a:avLst>
          </a:prstGeom>
          <a:solidFill>
            <a:srgbClr val="3E2513"/>
          </a:solidFill>
          <a:ln/>
        </p:spPr>
      </p:sp>
      <p:pic>
        <p:nvPicPr>
          <p:cNvPr id="2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1607" y="5458778"/>
            <a:ext cx="205502" cy="205502"/>
          </a:xfrm>
          <a:prstGeom prst="rect">
            <a:avLst/>
          </a:prstGeom>
        </p:spPr>
      </p:pic>
      <p:sp>
        <p:nvSpPr>
          <p:cNvPr id="30" name="Text 27"/>
          <p:cNvSpPr/>
          <p:nvPr/>
        </p:nvSpPr>
        <p:spPr>
          <a:xfrm>
            <a:off x="793433" y="5989677"/>
            <a:ext cx="3443168" cy="267533"/>
          </a:xfrm>
          <a:prstGeom prst="rect">
            <a:avLst/>
          </a:prstGeom>
          <a:noFill/>
          <a:ln/>
        </p:spPr>
        <p:txBody>
          <a:bodyPr wrap="none" lIns="0" tIns="0" rIns="0" bIns="0" rtlCol="0" anchor="t"/>
          <a:lstStyle/>
          <a:p>
            <a:pPr marL="0" indent="0" algn="l">
              <a:lnSpc>
                <a:spcPts val="2100"/>
              </a:lnSpc>
              <a:buNone/>
            </a:pPr>
            <a:r>
              <a:rPr lang="en-US" sz="1650" dirty="0">
                <a:solidFill>
                  <a:srgbClr val="504C49"/>
                </a:solidFill>
                <a:latin typeface="Platypi Medium" pitchFamily="34" charset="0"/>
                <a:ea typeface="Platypi Medium" pitchFamily="34" charset="-122"/>
                <a:cs typeface="Platypi Medium" pitchFamily="34" charset="-120"/>
              </a:rPr>
              <a:t>2x More Successful Onboardings</a:t>
            </a:r>
            <a:endParaRPr lang="en-US" sz="1650" dirty="0"/>
          </a:p>
        </p:txBody>
      </p:sp>
      <p:sp>
        <p:nvSpPr>
          <p:cNvPr id="31" name="Shape 28"/>
          <p:cNvSpPr/>
          <p:nvPr/>
        </p:nvSpPr>
        <p:spPr>
          <a:xfrm>
            <a:off x="7400806" y="5561528"/>
            <a:ext cx="6630233" cy="889754"/>
          </a:xfrm>
          <a:prstGeom prst="roundRect">
            <a:avLst>
              <a:gd name="adj" fmla="val 12332"/>
            </a:avLst>
          </a:prstGeom>
          <a:solidFill>
            <a:srgbClr val="FFFFFF"/>
          </a:solidFill>
          <a:ln/>
        </p:spPr>
      </p:sp>
      <p:sp>
        <p:nvSpPr>
          <p:cNvPr id="32" name="Shape 29"/>
          <p:cNvSpPr/>
          <p:nvPr/>
        </p:nvSpPr>
        <p:spPr>
          <a:xfrm>
            <a:off x="7400806" y="5538668"/>
            <a:ext cx="6630233" cy="91440"/>
          </a:xfrm>
          <a:prstGeom prst="roundRect">
            <a:avLst>
              <a:gd name="adj" fmla="val 28095"/>
            </a:avLst>
          </a:prstGeom>
          <a:solidFill>
            <a:srgbClr val="3E2513"/>
          </a:solidFill>
          <a:ln/>
        </p:spPr>
      </p:sp>
      <p:sp>
        <p:nvSpPr>
          <p:cNvPr id="33" name="Shape 30"/>
          <p:cNvSpPr/>
          <p:nvPr/>
        </p:nvSpPr>
        <p:spPr>
          <a:xfrm>
            <a:off x="10458986" y="5304711"/>
            <a:ext cx="513755" cy="513755"/>
          </a:xfrm>
          <a:prstGeom prst="roundRect">
            <a:avLst>
              <a:gd name="adj" fmla="val 177984"/>
            </a:avLst>
          </a:prstGeom>
          <a:solidFill>
            <a:srgbClr val="3E2513"/>
          </a:solidFill>
          <a:ln/>
        </p:spPr>
      </p:sp>
      <p:pic>
        <p:nvPicPr>
          <p:cNvPr id="3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13053" y="5458778"/>
            <a:ext cx="205502" cy="205502"/>
          </a:xfrm>
          <a:prstGeom prst="rect">
            <a:avLst/>
          </a:prstGeom>
        </p:spPr>
      </p:pic>
      <p:sp>
        <p:nvSpPr>
          <p:cNvPr id="35" name="Text 31"/>
          <p:cNvSpPr/>
          <p:nvPr/>
        </p:nvSpPr>
        <p:spPr>
          <a:xfrm>
            <a:off x="7594878" y="5989677"/>
            <a:ext cx="3024902" cy="267533"/>
          </a:xfrm>
          <a:prstGeom prst="rect">
            <a:avLst/>
          </a:prstGeom>
          <a:noFill/>
          <a:ln/>
        </p:spPr>
        <p:txBody>
          <a:bodyPr wrap="none" lIns="0" tIns="0" rIns="0" bIns="0" rtlCol="0" anchor="t"/>
          <a:lstStyle/>
          <a:p>
            <a:pPr marL="0" indent="0" algn="l">
              <a:lnSpc>
                <a:spcPts val="2100"/>
              </a:lnSpc>
              <a:buNone/>
            </a:pPr>
            <a:r>
              <a:rPr lang="en-US" sz="1650" dirty="0">
                <a:solidFill>
                  <a:srgbClr val="504C49"/>
                </a:solidFill>
                <a:latin typeface="Platypi Medium" pitchFamily="34" charset="0"/>
                <a:ea typeface="Platypi Medium" pitchFamily="34" charset="-122"/>
                <a:cs typeface="Platypi Medium" pitchFamily="34" charset="-120"/>
              </a:rPr>
              <a:t>40% Lower Onboarding Cost</a:t>
            </a:r>
            <a:endParaRPr lang="en-US" sz="1650" dirty="0"/>
          </a:p>
        </p:txBody>
      </p:sp>
      <p:sp>
        <p:nvSpPr>
          <p:cNvPr id="36" name="Shape 32"/>
          <p:cNvSpPr/>
          <p:nvPr/>
        </p:nvSpPr>
        <p:spPr>
          <a:xfrm>
            <a:off x="599361" y="6879312"/>
            <a:ext cx="6630233" cy="889754"/>
          </a:xfrm>
          <a:prstGeom prst="roundRect">
            <a:avLst>
              <a:gd name="adj" fmla="val 12332"/>
            </a:avLst>
          </a:prstGeom>
          <a:solidFill>
            <a:srgbClr val="FFFFFF"/>
          </a:solidFill>
          <a:ln/>
        </p:spPr>
      </p:sp>
      <p:sp>
        <p:nvSpPr>
          <p:cNvPr id="37" name="Shape 33"/>
          <p:cNvSpPr/>
          <p:nvPr/>
        </p:nvSpPr>
        <p:spPr>
          <a:xfrm>
            <a:off x="599361" y="6856452"/>
            <a:ext cx="6630233" cy="91440"/>
          </a:xfrm>
          <a:prstGeom prst="roundRect">
            <a:avLst>
              <a:gd name="adj" fmla="val 28095"/>
            </a:avLst>
          </a:prstGeom>
          <a:solidFill>
            <a:srgbClr val="3E2513"/>
          </a:solidFill>
          <a:ln/>
        </p:spPr>
      </p:sp>
      <p:sp>
        <p:nvSpPr>
          <p:cNvPr id="38" name="Shape 34"/>
          <p:cNvSpPr/>
          <p:nvPr/>
        </p:nvSpPr>
        <p:spPr>
          <a:xfrm>
            <a:off x="3657540" y="6622494"/>
            <a:ext cx="513755" cy="513755"/>
          </a:xfrm>
          <a:prstGeom prst="roundRect">
            <a:avLst>
              <a:gd name="adj" fmla="val 177984"/>
            </a:avLst>
          </a:prstGeom>
          <a:solidFill>
            <a:srgbClr val="3E2513"/>
          </a:solidFill>
          <a:ln/>
        </p:spPr>
      </p:sp>
      <p:pic>
        <p:nvPicPr>
          <p:cNvPr id="3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11607" y="6776561"/>
            <a:ext cx="205502" cy="205502"/>
          </a:xfrm>
          <a:prstGeom prst="rect">
            <a:avLst/>
          </a:prstGeom>
        </p:spPr>
      </p:pic>
      <p:sp>
        <p:nvSpPr>
          <p:cNvPr id="40" name="Text 35"/>
          <p:cNvSpPr/>
          <p:nvPr/>
        </p:nvSpPr>
        <p:spPr>
          <a:xfrm>
            <a:off x="793433" y="7307461"/>
            <a:ext cx="3027045" cy="267533"/>
          </a:xfrm>
          <a:prstGeom prst="rect">
            <a:avLst/>
          </a:prstGeom>
          <a:noFill/>
          <a:ln/>
        </p:spPr>
        <p:txBody>
          <a:bodyPr wrap="none" lIns="0" tIns="0" rIns="0" bIns="0" rtlCol="0" anchor="t"/>
          <a:lstStyle/>
          <a:p>
            <a:pPr marL="0" indent="0" algn="l">
              <a:lnSpc>
                <a:spcPts val="2100"/>
              </a:lnSpc>
              <a:buNone/>
            </a:pPr>
            <a:r>
              <a:rPr lang="en-US" sz="1650" dirty="0">
                <a:solidFill>
                  <a:srgbClr val="504C49"/>
                </a:solidFill>
                <a:latin typeface="Platypi Medium" pitchFamily="34" charset="0"/>
                <a:ea typeface="Platypi Medium" pitchFamily="34" charset="-122"/>
                <a:cs typeface="Platypi Medium" pitchFamily="34" charset="-120"/>
              </a:rPr>
              <a:t>30% Fewer Manual Rechecks</a:t>
            </a:r>
            <a:endParaRPr lang="en-US" sz="1650" dirty="0"/>
          </a:p>
        </p:txBody>
      </p:sp>
      <p:sp>
        <p:nvSpPr>
          <p:cNvPr id="41" name="Shape 36"/>
          <p:cNvSpPr/>
          <p:nvPr/>
        </p:nvSpPr>
        <p:spPr>
          <a:xfrm>
            <a:off x="7400806" y="6879312"/>
            <a:ext cx="6630233" cy="889754"/>
          </a:xfrm>
          <a:prstGeom prst="roundRect">
            <a:avLst>
              <a:gd name="adj" fmla="val 12332"/>
            </a:avLst>
          </a:prstGeom>
          <a:solidFill>
            <a:srgbClr val="FFFFFF"/>
          </a:solidFill>
          <a:ln/>
        </p:spPr>
      </p:sp>
      <p:sp>
        <p:nvSpPr>
          <p:cNvPr id="42" name="Shape 37"/>
          <p:cNvSpPr/>
          <p:nvPr/>
        </p:nvSpPr>
        <p:spPr>
          <a:xfrm>
            <a:off x="7400806" y="6856452"/>
            <a:ext cx="6630233" cy="91440"/>
          </a:xfrm>
          <a:prstGeom prst="roundRect">
            <a:avLst>
              <a:gd name="adj" fmla="val 28095"/>
            </a:avLst>
          </a:prstGeom>
          <a:solidFill>
            <a:srgbClr val="3E2513"/>
          </a:solidFill>
          <a:ln/>
        </p:spPr>
      </p:sp>
      <p:sp>
        <p:nvSpPr>
          <p:cNvPr id="43" name="Shape 38"/>
          <p:cNvSpPr/>
          <p:nvPr/>
        </p:nvSpPr>
        <p:spPr>
          <a:xfrm>
            <a:off x="10458986" y="6622494"/>
            <a:ext cx="513755" cy="513755"/>
          </a:xfrm>
          <a:prstGeom prst="roundRect">
            <a:avLst>
              <a:gd name="adj" fmla="val 177984"/>
            </a:avLst>
          </a:prstGeom>
          <a:solidFill>
            <a:srgbClr val="3E2513"/>
          </a:solidFill>
          <a:ln/>
        </p:spPr>
      </p:sp>
      <p:pic>
        <p:nvPicPr>
          <p:cNvPr id="4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13053" y="6776561"/>
            <a:ext cx="205502" cy="205502"/>
          </a:xfrm>
          <a:prstGeom prst="rect">
            <a:avLst/>
          </a:prstGeom>
        </p:spPr>
      </p:pic>
      <p:sp>
        <p:nvSpPr>
          <p:cNvPr id="45" name="Text 39"/>
          <p:cNvSpPr/>
          <p:nvPr/>
        </p:nvSpPr>
        <p:spPr>
          <a:xfrm>
            <a:off x="7594878" y="7307461"/>
            <a:ext cx="3131106" cy="267533"/>
          </a:xfrm>
          <a:prstGeom prst="rect">
            <a:avLst/>
          </a:prstGeom>
          <a:noFill/>
          <a:ln/>
        </p:spPr>
        <p:txBody>
          <a:bodyPr wrap="none" lIns="0" tIns="0" rIns="0" bIns="0" rtlCol="0" anchor="t"/>
          <a:lstStyle/>
          <a:p>
            <a:pPr marL="0" indent="0" algn="l">
              <a:lnSpc>
                <a:spcPts val="2100"/>
              </a:lnSpc>
              <a:buNone/>
            </a:pPr>
            <a:r>
              <a:rPr lang="en-US" sz="1650" dirty="0">
                <a:solidFill>
                  <a:srgbClr val="504C49"/>
                </a:solidFill>
                <a:latin typeface="Platypi Medium" pitchFamily="34" charset="0"/>
                <a:ea typeface="Platypi Medium" pitchFamily="34" charset="-122"/>
                <a:cs typeface="Platypi Medium" pitchFamily="34" charset="-120"/>
              </a:rPr>
              <a:t>Higher Customer Satisfaction</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1067</Words>
  <Application>Microsoft Office PowerPoint</Application>
  <PresentationFormat>Custom</PresentationFormat>
  <Paragraphs>137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 Display</vt:lpstr>
      <vt:lpstr>Arial</vt:lpstr>
      <vt:lpstr>Aptos</vt:lpstr>
      <vt:lpstr>Platypi Medium</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Justreadingbro</dc:creator>
  <cp:lastModifiedBy>Pritam justreadingbro</cp:lastModifiedBy>
  <cp:revision>2</cp:revision>
  <dcterms:created xsi:type="dcterms:W3CDTF">2025-12-04T04:57:41Z</dcterms:created>
  <dcterms:modified xsi:type="dcterms:W3CDTF">2025-12-04T13:48:48Z</dcterms:modified>
</cp:coreProperties>
</file>